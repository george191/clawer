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300a0430ef47d3" /><Relationship Type="http://schemas.openxmlformats.org/officeDocument/2006/relationships/extended-properties" Target="/docProps/app.xml" Id="Rcf120261803b40d8" /><Relationship Type="http://schemas.openxmlformats.org/officeDocument/2006/relationships/officeDocument" Target="/ppt/presentation.xml" Id="R869f14aad014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fcd4d2ad9e4533"/>
  </p:sldMasterIdLst>
  <p:notesMasterIdLst>
    <p:notesMasterId xmlns:r="http://schemas.openxmlformats.org/officeDocument/2006/relationships" r:id="R77d7e8cc1bc84913"/>
  </p:notesMasterIdLst>
  <p:sldIdLst>
    <p:sldId xmlns:r="http://schemas.openxmlformats.org/officeDocument/2006/relationships" id="256" r:id="Rb79dccb36f2d4f27"/>
    <p:sldId xmlns:r="http://schemas.openxmlformats.org/officeDocument/2006/relationships" id="257" r:id="Rc53798f6e3ef46dc"/>
    <p:sldId xmlns:r="http://schemas.openxmlformats.org/officeDocument/2006/relationships" id="258" r:id="R6512c6710d3d4f2d"/>
    <p:sldId xmlns:r="http://schemas.openxmlformats.org/officeDocument/2006/relationships" id="259" r:id="Rb2106b284f9648d6"/>
    <p:sldId xmlns:r="http://schemas.openxmlformats.org/officeDocument/2006/relationships" id="260" r:id="Rbb4cda5e34884967"/>
    <p:sldId xmlns:r="http://schemas.openxmlformats.org/officeDocument/2006/relationships" id="261" r:id="Rd08c8baa73f74aa8"/>
    <p:sldId xmlns:r="http://schemas.openxmlformats.org/officeDocument/2006/relationships" id="262" r:id="R68ddaa142a554c59"/>
    <p:sldId xmlns:r="http://schemas.openxmlformats.org/officeDocument/2006/relationships" id="263" r:id="R2dff02a8313a4e58"/>
    <p:sldId xmlns:r="http://schemas.openxmlformats.org/officeDocument/2006/relationships" id="264" r:id="Rfd5ce3d06e454ceb"/>
    <p:sldId xmlns:r="http://schemas.openxmlformats.org/officeDocument/2006/relationships" id="265" r:id="Rb821f9f59d394077"/>
    <p:sldId xmlns:r="http://schemas.openxmlformats.org/officeDocument/2006/relationships" id="266" r:id="Rc2977376e9a44895"/>
    <p:sldId xmlns:r="http://schemas.openxmlformats.org/officeDocument/2006/relationships" id="267" r:id="R87ba27261bbc4ad1"/>
    <p:sldId xmlns:r="http://schemas.openxmlformats.org/officeDocument/2006/relationships" id="268" r:id="Rd383c168e6344dc3"/>
    <p:sldId xmlns:r="http://schemas.openxmlformats.org/officeDocument/2006/relationships" id="269" r:id="R3b7ee0ca20714b0c"/>
    <p:sldId xmlns:r="http://schemas.openxmlformats.org/officeDocument/2006/relationships" id="270" r:id="R9822694332f64e58"/>
    <p:sldId xmlns:r="http://schemas.openxmlformats.org/officeDocument/2006/relationships" id="271" r:id="R4f80dce2b1f14612"/>
    <p:sldId xmlns:r="http://schemas.openxmlformats.org/officeDocument/2006/relationships" id="272" r:id="R29ebd41a46dd479a"/>
    <p:sldId xmlns:r="http://schemas.openxmlformats.org/officeDocument/2006/relationships" id="273" r:id="R4152939eb98b48bb"/>
    <p:sldId xmlns:r="http://schemas.openxmlformats.org/officeDocument/2006/relationships" id="274" r:id="Re60e68eb8aef4a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44643c0f246eb" /><Relationship Type="http://schemas.openxmlformats.org/officeDocument/2006/relationships/slideMaster" Target="/ppt/slideMasters/slideMaster1.xml" Id="Rcbfcd4d2ad9e4533" /><Relationship Type="http://schemas.openxmlformats.org/officeDocument/2006/relationships/notesMaster" Target="/ppt/notesMasters/notesMaster1.xml" Id="R77d7e8cc1bc84913" /><Relationship Type="http://schemas.openxmlformats.org/officeDocument/2006/relationships/presProps" Target="/ppt/presProps.xml" Id="R514bbd9127fe4a9e" /><Relationship Type="http://schemas.openxmlformats.org/officeDocument/2006/relationships/viewProps" Target="/ppt/viewProps.xml" Id="R4e82edbb2d694433" /><Relationship Type="http://schemas.openxmlformats.org/officeDocument/2006/relationships/tableStyles" Target="/ppt/tableStyles.xml" Id="Rf2f3881b12c84f39" /><Relationship Type="http://schemas.openxmlformats.org/officeDocument/2006/relationships/slide" Target="/ppt/slides/slide1.xml" Id="Rb79dccb36f2d4f27" /><Relationship Type="http://schemas.openxmlformats.org/officeDocument/2006/relationships/slide" Target="/ppt/slides/slide2.xml" Id="Rc53798f6e3ef46dc" /><Relationship Type="http://schemas.openxmlformats.org/officeDocument/2006/relationships/slide" Target="/ppt/slides/slide3.xml" Id="R6512c6710d3d4f2d" /><Relationship Type="http://schemas.openxmlformats.org/officeDocument/2006/relationships/slide" Target="/ppt/slides/slide4.xml" Id="Rb2106b284f9648d6" /><Relationship Type="http://schemas.openxmlformats.org/officeDocument/2006/relationships/slide" Target="/ppt/slides/slide5.xml" Id="Rbb4cda5e34884967" /><Relationship Type="http://schemas.openxmlformats.org/officeDocument/2006/relationships/slide" Target="/ppt/slides/slide6.xml" Id="Rd08c8baa73f74aa8" /><Relationship Type="http://schemas.openxmlformats.org/officeDocument/2006/relationships/slide" Target="/ppt/slides/slide7.xml" Id="R68ddaa142a554c59" /><Relationship Type="http://schemas.openxmlformats.org/officeDocument/2006/relationships/slide" Target="/ppt/slides/slide8.xml" Id="R2dff02a8313a4e58" /><Relationship Type="http://schemas.openxmlformats.org/officeDocument/2006/relationships/slide" Target="/ppt/slides/slide9.xml" Id="Rfd5ce3d06e454ceb" /><Relationship Type="http://schemas.openxmlformats.org/officeDocument/2006/relationships/slide" Target="/ppt/slides/slide10.xml" Id="Rb821f9f59d394077" /><Relationship Type="http://schemas.openxmlformats.org/officeDocument/2006/relationships/slide" Target="/ppt/slides/slide11.xml" Id="Rc2977376e9a44895" /><Relationship Type="http://schemas.openxmlformats.org/officeDocument/2006/relationships/slide" Target="/ppt/slides/slide12.xml" Id="R87ba27261bbc4ad1" /><Relationship Type="http://schemas.openxmlformats.org/officeDocument/2006/relationships/slide" Target="/ppt/slides/slide13.xml" Id="Rd383c168e6344dc3" /><Relationship Type="http://schemas.openxmlformats.org/officeDocument/2006/relationships/slide" Target="/ppt/slides/slide14.xml" Id="R3b7ee0ca20714b0c" /><Relationship Type="http://schemas.openxmlformats.org/officeDocument/2006/relationships/slide" Target="/ppt/slides/slide15.xml" Id="R9822694332f64e58" /><Relationship Type="http://schemas.openxmlformats.org/officeDocument/2006/relationships/slide" Target="/ppt/slides/slide16.xml" Id="R4f80dce2b1f14612" /><Relationship Type="http://schemas.openxmlformats.org/officeDocument/2006/relationships/slide" Target="/ppt/slides/slide17.xml" Id="R29ebd41a46dd479a" /><Relationship Type="http://schemas.openxmlformats.org/officeDocument/2006/relationships/slide" Target="/ppt/slides/slide18.xml" Id="R4152939eb98b48bb" /><Relationship Type="http://schemas.openxmlformats.org/officeDocument/2006/relationships/slide" Target="/ppt/slides/slide19.xml" Id="Re60e68eb8aef4a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732d7876b348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9ef69a440e4dc2" /><Relationship Type="http://schemas.openxmlformats.org/officeDocument/2006/relationships/notesMaster" Target="/ppt/notesMasters/notesMaster1.xml" Id="R04ae0fcb1d254b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690a71b66d4fd0" /><Relationship Type="http://schemas.openxmlformats.org/officeDocument/2006/relationships/notesMaster" Target="/ppt/notesMasters/notesMaster1.xml" Id="R2e47f11b7f4345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6831ccfcd14bb2" /><Relationship Type="http://schemas.openxmlformats.org/officeDocument/2006/relationships/notesMaster" Target="/ppt/notesMasters/notesMaster1.xml" Id="R250f77bee25049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a246a526264cb2" /><Relationship Type="http://schemas.openxmlformats.org/officeDocument/2006/relationships/notesMaster" Target="/ppt/notesMasters/notesMaster1.xml" Id="R0772988bc60f47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42bf5829c94d0f" /><Relationship Type="http://schemas.openxmlformats.org/officeDocument/2006/relationships/notesMaster" Target="/ppt/notesMasters/notesMaster1.xml" Id="R396f83cf636c43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f4bbdf9f7a4342" /><Relationship Type="http://schemas.openxmlformats.org/officeDocument/2006/relationships/notesMaster" Target="/ppt/notesMasters/notesMaster1.xml" Id="R2df7cb5b20cf43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f80f426d084820" /><Relationship Type="http://schemas.openxmlformats.org/officeDocument/2006/relationships/notesMaster" Target="/ppt/notesMasters/notesMaster1.xml" Id="R03a5f090affe4f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7c380d078841a9" /><Relationship Type="http://schemas.openxmlformats.org/officeDocument/2006/relationships/notesMaster" Target="/ppt/notesMasters/notesMaster1.xml" Id="R9c755333d91c45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4704d515894a33" /><Relationship Type="http://schemas.openxmlformats.org/officeDocument/2006/relationships/notesMaster" Target="/ppt/notesMasters/notesMaster1.xml" Id="R442843f9ae324c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4b840a881b498a" /><Relationship Type="http://schemas.openxmlformats.org/officeDocument/2006/relationships/notesMaster" Target="/ppt/notesMasters/notesMaster1.xml" Id="Rfb8e1deedfe840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5817843ef34504" /><Relationship Type="http://schemas.openxmlformats.org/officeDocument/2006/relationships/notesMaster" Target="/ppt/notesMasters/notesMaster1.xml" Id="Rbc023792f0004b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f3e9519464473" /><Relationship Type="http://schemas.openxmlformats.org/officeDocument/2006/relationships/notesMaster" Target="/ppt/notesMasters/notesMaster1.xml" Id="Rb73ead86acb54e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b4c3dbe3804aaf" /><Relationship Type="http://schemas.openxmlformats.org/officeDocument/2006/relationships/notesMaster" Target="/ppt/notesMasters/notesMaster1.xml" Id="Rafeebd772b9841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11b2eecede4574" /><Relationship Type="http://schemas.openxmlformats.org/officeDocument/2006/relationships/notesMaster" Target="/ppt/notesMasters/notesMaster1.xml" Id="R55b4691762204c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0f8a1710fb4601" /><Relationship Type="http://schemas.openxmlformats.org/officeDocument/2006/relationships/notesMaster" Target="/ppt/notesMasters/notesMaster1.xml" Id="Rde8f8d6ad8094b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6d699d321946d8" /><Relationship Type="http://schemas.openxmlformats.org/officeDocument/2006/relationships/notesMaster" Target="/ppt/notesMasters/notesMaster1.xml" Id="Rea90e76032a74a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0cfc9f02ec4ffe" /><Relationship Type="http://schemas.openxmlformats.org/officeDocument/2006/relationships/notesMaster" Target="/ppt/notesMasters/notesMaster1.xml" Id="Rd66eadf4008c49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448d26182c47d3" /><Relationship Type="http://schemas.openxmlformats.org/officeDocument/2006/relationships/notesMaster" Target="/ppt/notesMasters/notesMaster1.xml" Id="R140c5840ab7444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704cde12f34ee8" /><Relationship Type="http://schemas.openxmlformats.org/officeDocument/2006/relationships/notesMaster" Target="/ppt/notesMasters/notesMaster1.xml" Id="R4467d582e7c440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b329f85174b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ba029c7cda4189" /><Relationship Type="http://schemas.openxmlformats.org/officeDocument/2006/relationships/slideLayout" Target="/ppt/slideLayouts/slideLayout1.xml" Id="R33a094f6f98644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094f6f98644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f5469fdff4e11" /><Relationship Type="http://schemas.openxmlformats.org/officeDocument/2006/relationships/notesSlide" Target="/ppt/notesSlides/notesSlide1.xml" Id="Rb9758ad56d474f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d103cec1d4864" /><Relationship Type="http://schemas.openxmlformats.org/officeDocument/2006/relationships/notesSlide" Target="/ppt/notesSlides/notesSlide2.xml" Id="R4976a1518c924a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2ee9b8c3147ab" /><Relationship Type="http://schemas.openxmlformats.org/officeDocument/2006/relationships/notesSlide" Target="/ppt/notesSlides/notesSlide3.xml" Id="R55b0421f82e345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9e028e8c444d7" /><Relationship Type="http://schemas.openxmlformats.org/officeDocument/2006/relationships/notesSlide" Target="/ppt/notesSlides/notesSlide4.xml" Id="R34b69256df3544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d4bb1f6ae48ea" /><Relationship Type="http://schemas.openxmlformats.org/officeDocument/2006/relationships/image" Target="/ppt/media/image.jpeg" Id="Re5d30c7bc5394aba" /><Relationship Type="http://schemas.openxmlformats.org/officeDocument/2006/relationships/notesSlide" Target="/ppt/notesSlides/notesSlide5.xml" Id="R330787cb09704f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9522f944648e4" /><Relationship Type="http://schemas.openxmlformats.org/officeDocument/2006/relationships/image" Target="/ppt/media/image2.jpeg" Id="R45a1ef32a1594c8a" /><Relationship Type="http://schemas.openxmlformats.org/officeDocument/2006/relationships/notesSlide" Target="/ppt/notesSlides/notesSlide6.xml" Id="R9b70dfe66b8e4c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eefc5966045d5" /><Relationship Type="http://schemas.openxmlformats.org/officeDocument/2006/relationships/image" Target="/ppt/media/image3.jpeg" Id="R7109a0b8cb4b44f7" /><Relationship Type="http://schemas.openxmlformats.org/officeDocument/2006/relationships/notesSlide" Target="/ppt/notesSlides/notesSlide7.xml" Id="R0a899dc80a69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df3ce0fc747f3" /><Relationship Type="http://schemas.openxmlformats.org/officeDocument/2006/relationships/image" Target="/ppt/media/image4.jpeg" Id="Rc7e643b48b904881" /><Relationship Type="http://schemas.openxmlformats.org/officeDocument/2006/relationships/notesSlide" Target="/ppt/notesSlides/notesSlide8.xml" Id="R6c78d447969d43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568a586b7402a" /><Relationship Type="http://schemas.openxmlformats.org/officeDocument/2006/relationships/image" Target="/ppt/media/image5.jpeg" Id="Rdb6915a2ef2e48aa" /><Relationship Type="http://schemas.openxmlformats.org/officeDocument/2006/relationships/notesSlide" Target="/ppt/notesSlides/notesSlide9.xml" Id="Rd2aafab4d8b147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a47748dab453c" /><Relationship Type="http://schemas.openxmlformats.org/officeDocument/2006/relationships/image" Target="/ppt/media/image6.jpeg" Id="R73cb90e1ccbc439f" /><Relationship Type="http://schemas.openxmlformats.org/officeDocument/2006/relationships/notesSlide" Target="/ppt/notesSlides/notesSlide10.xml" Id="Rd0ca2e0c8ebc4d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dc550a73b446e" /><Relationship Type="http://schemas.openxmlformats.org/officeDocument/2006/relationships/image" Target="/ppt/media/image7.jpeg" Id="Rab2999a6eb8e42cc" /><Relationship Type="http://schemas.openxmlformats.org/officeDocument/2006/relationships/notesSlide" Target="/ppt/notesSlides/notesSlide11.xml" Id="Rbcb0c68e5eb14e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8c51485304f61" /><Relationship Type="http://schemas.openxmlformats.org/officeDocument/2006/relationships/notesSlide" Target="/ppt/notesSlides/notesSlide12.xml" Id="R7a5d03752f9a4a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2f59685043ac" /><Relationship Type="http://schemas.openxmlformats.org/officeDocument/2006/relationships/notesSlide" Target="/ppt/notesSlides/notesSlide13.xml" Id="R7246da7ca24643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0383c1993447c" /><Relationship Type="http://schemas.openxmlformats.org/officeDocument/2006/relationships/notesSlide" Target="/ppt/notesSlides/notesSlide14.xml" Id="R9c9d32ae94184f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18659778d4aed" /><Relationship Type="http://schemas.openxmlformats.org/officeDocument/2006/relationships/notesSlide" Target="/ppt/notesSlides/notesSlide15.xml" Id="Re10cf59a18de44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e8b5321214a46" /><Relationship Type="http://schemas.openxmlformats.org/officeDocument/2006/relationships/notesSlide" Target="/ppt/notesSlides/notesSlide16.xml" Id="R50d58fba83cf48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4e405d3284c77" /><Relationship Type="http://schemas.openxmlformats.org/officeDocument/2006/relationships/notesSlide" Target="/ppt/notesSlides/notesSlide17.xml" Id="R5a199c51aaba45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d9fb443324c64" /><Relationship Type="http://schemas.openxmlformats.org/officeDocument/2006/relationships/notesSlide" Target="/ppt/notesSlides/notesSlide18.xml" Id="Rb167cf28db7841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f8446dfdd4d02" /><Relationship Type="http://schemas.openxmlformats.org/officeDocument/2006/relationships/notesSlide" Target="/ppt/notesSlides/notesSlide19.xml" Id="R59248d1c27d24c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k">
            <a:extLst xmlns:a="http://schemas.openxmlformats.org/drawingml/2006/main">
              <a:ext uri="{FF2B5EF4-FFF2-40B4-BE49-F238E27FC236}">
                <a16:creationId xmlns:a16="http://schemas.microsoft.com/office/drawing/2014/main" id="{A4BB4CBE-5218-46FC-8E63-A20A301F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DATA PLATFORM</a:t>
            </a:r>
          </a:p>
        </p:txBody>
      </p:sp>
      <p:sp>
        <p:nvSpPr>
          <p:cNvPr id="2" name="ct">
            <a:extLst xmlns:a="http://schemas.openxmlformats.org/drawingml/2006/main">
              <a:ext uri="{FF2B5EF4-FFF2-40B4-BE49-F238E27FC236}">
                <a16:creationId xmlns:a16="http://schemas.microsoft.com/office/drawing/2014/main" id="{87C4A7C9-017B-44D9-B9BF-FF7855CE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953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数据采集与治理平台：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项目架构与建设说明</a:t>
            </a:r>
          </a:p>
        </p:txBody>
      </p:sp>
      <p:cxnSp>
        <p:nvCxnSpPr>
          <p:cNvPr id="40" name="rule-42-424"/>
          <p:cNvCxnSpPr/>
          <p:nvPr/>
        </p:nvCxnSpPr>
        <p:spPr>
          <a:xfrm xmlns:a="http://schemas.openxmlformats.org/drawingml/2006/main">
            <a:off x="400050" y="4038600"/>
            <a:ext cx="7239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3E"/>
            </a:solidFill>
            <a:prstDash val="solid"/>
          </a:ln>
        </p:spPr>
      </p:cxnSp>
      <p:sp>
        <p:nvSpPr>
          <p:cNvPr id="4" name="cs">
            <a:extLst xmlns:a="http://schemas.openxmlformats.org/drawingml/2006/main">
              <a:ext uri="{FF2B5EF4-FFF2-40B4-BE49-F238E27FC236}">
                <a16:creationId xmlns:a16="http://schemas.microsoft.com/office/drawing/2014/main" id="{3E39A253-2A1D-4E40-8B6A-B886A27D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项目总览 · 整体架构 · 采集实现 · 数据湖 / 数仓 / 驾驶舱规划</a:t>
            </a:r>
          </a:p>
        </p:txBody>
      </p:sp>
      <p:sp>
        <p:nvSpPr>
          <p:cNvPr id="5" name="cd">
            <a:extLst xmlns:a="http://schemas.openxmlformats.org/drawingml/2006/main">
              <a:ext uri="{FF2B5EF4-FFF2-40B4-BE49-F238E27FC236}">
                <a16:creationId xmlns:a16="http://schemas.microsoft.com/office/drawing/2014/main" id="{4FA7B9DD-B2B0-4548-99D9-9ACF1C8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当前进度：采集能力已实现｜其他能力规划中｜2026-07-27</a:t>
            </a:r>
          </a:p>
        </p:txBody>
      </p:sp>
      <p:sp>
        <p:nvSpPr>
          <p:cNvPr id="6" name="cm">
            <a:extLst xmlns:a="http://schemas.openxmlformats.org/drawingml/2006/main">
              <a:ext uri="{FF2B5EF4-FFF2-40B4-BE49-F238E27FC236}">
                <a16:creationId xmlns:a16="http://schemas.microsoft.com/office/drawing/2014/main" id="{280FC642-8BD9-4019-B2E7-7FA079A1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504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7" name="cmt">
            <a:extLst xmlns:a="http://schemas.openxmlformats.org/drawingml/2006/main">
              <a:ext uri="{FF2B5EF4-FFF2-40B4-BE49-F238E27FC236}">
                <a16:creationId xmlns:a16="http://schemas.microsoft.com/office/drawing/2014/main" id="{5EB7D22B-8951-4465-B6D1-738C6DAB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1504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968261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-6">
            <a:extLst xmlns:a="http://schemas.openxmlformats.org/drawingml/2006/main">
              <a:ext uri="{FF2B5EF4-FFF2-40B4-BE49-F238E27FC236}">
                <a16:creationId xmlns:a16="http://schemas.microsoft.com/office/drawing/2014/main" id="{6AAD4462-FDA1-4DBE-B71F-4BC0FC66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PROJECT OVERVIEW</a:t>
            </a:r>
          </a:p>
        </p:txBody>
      </p:sp>
      <p:sp>
        <p:nvSpPr>
          <p:cNvPr id="2" name="t-6">
            <a:extLst xmlns:a="http://schemas.openxmlformats.org/drawingml/2006/main">
              <a:ext uri="{FF2B5EF4-FFF2-40B4-BE49-F238E27FC236}">
                <a16:creationId xmlns:a16="http://schemas.microsoft.com/office/drawing/2014/main" id="{4D9F8188-789D-4853-875A-1E7F827A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项目按四个配置域逐步建设，目前仅采集能力完成落地</a:t>
            </a:r>
          </a:p>
        </p:txBody>
      </p:sp>
      <p:cxnSp>
        <p:nvCxnSpPr>
          <p:cNvPr id="50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6">
            <a:extLst xmlns:a="http://schemas.openxmlformats.org/drawingml/2006/main">
              <a:ext uri="{FF2B5EF4-FFF2-40B4-BE49-F238E27FC236}">
                <a16:creationId xmlns:a16="http://schemas.microsoft.com/office/drawing/2014/main" id="{1BFB5586-9064-43A3-89C9-7DA033A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u0">
            <a:extLst xmlns:a="http://schemas.openxmlformats.org/drawingml/2006/main">
              <a:ext uri="{FF2B5EF4-FFF2-40B4-BE49-F238E27FC236}">
                <a16:creationId xmlns:a16="http://schemas.microsoft.com/office/drawing/2014/main" id="{B6065888-C887-4748-B448-64220E4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本期聚焦采集；数据湖、数仓与驾驶舱保留架构位置，待后续方案明确后补充。</a:t>
            </a:r>
          </a:p>
        </p:txBody>
      </p:sp>
      <p:sp>
        <p:nvSpPr>
          <p:cNvPr id="6" name="u0">
            <a:extLst xmlns:a="http://schemas.openxmlformats.org/drawingml/2006/main">
              <a:ext uri="{FF2B5EF4-FFF2-40B4-BE49-F238E27FC236}">
                <a16:creationId xmlns:a16="http://schemas.microsoft.com/office/drawing/2014/main" id="{AEBEA897-CEAF-4F4E-9811-C175DFAE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7" name="ut0">
            <a:extLst xmlns:a="http://schemas.openxmlformats.org/drawingml/2006/main">
              <a:ext uri="{FF2B5EF4-FFF2-40B4-BE49-F238E27FC236}">
                <a16:creationId xmlns:a16="http://schemas.microsoft.com/office/drawing/2014/main" id="{0DE9C1B9-44D9-4168-B1D2-9AE6C6CC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 · 采集（已实现）</a:t>
            </a:r>
          </a:p>
        </p:txBody>
      </p:sp>
      <p:sp>
        <p:nvSpPr>
          <p:cNvPr id="8" name="ub0">
            <a:extLst xmlns:a="http://schemas.openxmlformats.org/drawingml/2006/main">
              <a:ext uri="{FF2B5EF4-FFF2-40B4-BE49-F238E27FC236}">
                <a16:creationId xmlns:a16="http://schemas.microsoft.com/office/drawing/2014/main" id="{3FEBBFF9-64C1-4B0C-B532-0E312FF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网址分析 / 模板生成 / Python 适配器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发布运行 / 资源下载 / 数据同步</a:t>
            </a:r>
          </a:p>
        </p:txBody>
      </p:sp>
      <p:sp>
        <p:nvSpPr>
          <p:cNvPr id="9" name="u1">
            <a:extLst xmlns:a="http://schemas.openxmlformats.org/drawingml/2006/main">
              <a:ext uri="{FF2B5EF4-FFF2-40B4-BE49-F238E27FC236}">
                <a16:creationId xmlns:a16="http://schemas.microsoft.com/office/drawing/2014/main" id="{D5D179A4-540C-4389-92BA-EB62DF0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0" name="ut1">
            <a:extLst xmlns:a="http://schemas.openxmlformats.org/drawingml/2006/main">
              <a:ext uri="{FF2B5EF4-FFF2-40B4-BE49-F238E27FC236}">
                <a16:creationId xmlns:a16="http://schemas.microsoft.com/office/drawing/2014/main" id="{5D7E81E7-8986-4102-9FE9-6056EA8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B · 数据湖（规划）</a:t>
            </a:r>
          </a:p>
        </p:txBody>
      </p:sp>
      <p:sp>
        <p:nvSpPr>
          <p:cNvPr id="11" name="ub1">
            <a:extLst xmlns:a="http://schemas.openxmlformats.org/drawingml/2006/main">
              <a:ext uri="{FF2B5EF4-FFF2-40B4-BE49-F238E27FC236}">
                <a16:creationId xmlns:a16="http://schemas.microsoft.com/office/drawing/2014/main" id="{BBC11F7B-4A23-490A-BC5D-F510C54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资源汇聚 / 原始数据沉淀 / 统一存储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当前未实现，配置项后续补充</a:t>
            </a:r>
          </a:p>
        </p:txBody>
      </p:sp>
      <p:sp>
        <p:nvSpPr>
          <p:cNvPr id="12" name="u2">
            <a:extLst xmlns:a="http://schemas.openxmlformats.org/drawingml/2006/main">
              <a:ext uri="{FF2B5EF4-FFF2-40B4-BE49-F238E27FC236}">
                <a16:creationId xmlns:a16="http://schemas.microsoft.com/office/drawing/2014/main" id="{CD764C1C-49C2-468F-B57D-7463502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3" name="ut2">
            <a:extLst xmlns:a="http://schemas.openxmlformats.org/drawingml/2006/main">
              <a:ext uri="{FF2B5EF4-FFF2-40B4-BE49-F238E27FC236}">
                <a16:creationId xmlns:a16="http://schemas.microsoft.com/office/drawing/2014/main" id="{1C5C29E5-E2CF-4B23-A2CE-8084C56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C · 数仓（规划）</a:t>
            </a:r>
          </a:p>
        </p:txBody>
      </p:sp>
      <p:sp>
        <p:nvSpPr>
          <p:cNvPr id="14" name="ub2">
            <a:extLst xmlns:a="http://schemas.openxmlformats.org/drawingml/2006/main">
              <a:ext uri="{FF2B5EF4-FFF2-40B4-BE49-F238E27FC236}">
                <a16:creationId xmlns:a16="http://schemas.microsoft.com/office/drawing/2014/main" id="{A4AFF5D9-18FC-42B8-A437-0D2390D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RDS / ODS 治理 / 主题建模 / 指标口径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当前未实现，配置项后续补充</a:t>
            </a:r>
          </a:p>
        </p:txBody>
      </p:sp>
      <p:sp>
        <p:nvSpPr>
          <p:cNvPr id="15" name="u3">
            <a:extLst xmlns:a="http://schemas.openxmlformats.org/drawingml/2006/main">
              <a:ext uri="{FF2B5EF4-FFF2-40B4-BE49-F238E27FC236}">
                <a16:creationId xmlns:a16="http://schemas.microsoft.com/office/drawing/2014/main" id="{5791DB97-BD52-492D-BE0E-FE293A1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6" name="ut3">
            <a:extLst xmlns:a="http://schemas.openxmlformats.org/drawingml/2006/main">
              <a:ext uri="{FF2B5EF4-FFF2-40B4-BE49-F238E27FC236}">
                <a16:creationId xmlns:a16="http://schemas.microsoft.com/office/drawing/2014/main" id="{2631BCBC-A4D6-4174-8F2F-449ED59B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D · 数据情报驾驶舱（规划）</a:t>
            </a:r>
          </a:p>
        </p:txBody>
      </p:sp>
      <p:sp>
        <p:nvSpPr>
          <p:cNvPr id="17" name="ub3">
            <a:extLst xmlns:a="http://schemas.openxmlformats.org/drawingml/2006/main">
              <a:ext uri="{FF2B5EF4-FFF2-40B4-BE49-F238E27FC236}">
                <a16:creationId xmlns:a16="http://schemas.microsoft.com/office/drawing/2014/main" id="{821AB7D2-B783-4148-9E06-E1570439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指标 / 检索 / 分析 / 可视化应用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当前未实现，配置项后续补充</a:t>
            </a:r>
          </a:p>
        </p:txBody>
      </p:sp>
    </p:spTree>
    <p:extLst>
      <p:ext uri="{BB962C8B-B14F-4D97-AF65-F5344CB8AC3E}">
        <p14:creationId xmlns:p14="http://schemas.microsoft.com/office/powerpoint/2010/main" val="289071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k-3">
            <a:extLst xmlns:a="http://schemas.openxmlformats.org/drawingml/2006/main">
              <a:ext uri="{FF2B5EF4-FFF2-40B4-BE49-F238E27FC236}">
                <a16:creationId xmlns:a16="http://schemas.microsoft.com/office/drawing/2014/main" id="{C06FE5CC-1687-4C14-B229-BC9A290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DATA PLATFORM</a:t>
            </a:r>
          </a:p>
        </p:txBody>
      </p:sp>
      <p:sp>
        <p:nvSpPr>
          <p:cNvPr id="2" name="t-3">
            <a:extLst xmlns:a="http://schemas.openxmlformats.org/drawingml/2006/main">
              <a:ext uri="{FF2B5EF4-FFF2-40B4-BE49-F238E27FC236}">
                <a16:creationId xmlns:a16="http://schemas.microsoft.com/office/drawing/2014/main" id="{6AB16FAF-B499-4BC6-A276-22DFAF7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平台以采集原始域为起点，逐步建设治理与应用能力</a:t>
            </a:r>
          </a:p>
        </p:txBody>
      </p:sp>
      <p:cxnSp>
        <p:nvCxnSpPr>
          <p:cNvPr id="33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3">
            <a:extLst xmlns:a="http://schemas.openxmlformats.org/drawingml/2006/main">
              <a:ext uri="{FF2B5EF4-FFF2-40B4-BE49-F238E27FC236}">
                <a16:creationId xmlns:a16="http://schemas.microsoft.com/office/drawing/2014/main" id="{DDDB9E9E-DCE0-4CDD-AD5E-39410AC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2" name="raw-collector-mongo">
            <a:extLst xmlns:a="http://schemas.openxmlformats.org/drawingml/2006/main">
              <a:ext uri="{FF2B5EF4-FFF2-40B4-BE49-F238E27FC236}">
                <a16:creationId xmlns:a16="http://schemas.microsoft.com/office/drawing/2014/main" id="{1F55BB43-7DA3-4240-A272-A706149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527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</p:sp>
      <p:sp>
        <p:nvSpPr>
          <p:cNvPr id="113" name="raw-mongo-downloader">
            <a:extLst xmlns:a="http://schemas.openxmlformats.org/drawingml/2006/main">
              <a:ext uri="{FF2B5EF4-FFF2-40B4-BE49-F238E27FC236}">
                <a16:creationId xmlns:a16="http://schemas.microsoft.com/office/drawing/2014/main" id="{F79C80B1-DBA7-4BD0-BB46-120EEAC2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90813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raw-downloader-minio">
            <a:extLst xmlns:a="http://schemas.openxmlformats.org/drawingml/2006/main">
              <a:ext uri="{FF2B5EF4-FFF2-40B4-BE49-F238E27FC236}">
                <a16:creationId xmlns:a16="http://schemas.microsoft.com/office/drawing/2014/main" id="{6208C35A-3F2E-421A-88F9-ED1DBF17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57500"/>
            <a:ext cx="1714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</p:sp>
      <p:sp>
        <p:nvSpPr>
          <p:cNvPr id="115" name="raw-mongo-syncer">
            <a:extLst xmlns:a="http://schemas.openxmlformats.org/drawingml/2006/main">
              <a:ext uri="{FF2B5EF4-FFF2-40B4-BE49-F238E27FC236}">
                <a16:creationId xmlns:a16="http://schemas.microsoft.com/office/drawing/2014/main" id="{A55B2A1E-3058-46C9-A8AF-5D89017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49" y="3209924"/>
            <a:ext cx="180976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6" name="raw-syncer-kafka">
            <a:extLst xmlns:a="http://schemas.openxmlformats.org/drawingml/2006/main">
              <a:ext uri="{FF2B5EF4-FFF2-40B4-BE49-F238E27FC236}">
                <a16:creationId xmlns:a16="http://schemas.microsoft.com/office/drawing/2014/main" id="{BFB4C12B-61ED-4D11-A423-BBCD991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909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</p:sp>
      <p:sp>
        <p:nvSpPr>
          <p:cNvPr id="117" name="net-a">
            <a:extLst xmlns:a="http://schemas.openxmlformats.org/drawingml/2006/main">
              <a:ext uri="{FF2B5EF4-FFF2-40B4-BE49-F238E27FC236}">
                <a16:creationId xmlns:a16="http://schemas.microsoft.com/office/drawing/2014/main" id="{621B6272-CF49-4FA4-ABFE-877ACA8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3865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24D"/>
          </a:solidFill>
          <a:ln xmlns:a="http://schemas.openxmlformats.org/drawingml/2006/main" w="0">
            <a:solidFill>
              <a:srgbClr val="F0B24D"/>
            </a:solidFill>
            <a:prstDash val="solid"/>
          </a:ln>
        </p:spPr>
      </p:sp>
      <p:sp>
        <p:nvSpPr>
          <p:cNvPr id="118" name="net-b">
            <a:extLst xmlns:a="http://schemas.openxmlformats.org/drawingml/2006/main">
              <a:ext uri="{FF2B5EF4-FFF2-40B4-BE49-F238E27FC236}">
                <a16:creationId xmlns:a16="http://schemas.microsoft.com/office/drawing/2014/main" id="{23C62647-44A0-49F9-9E5C-309B6E7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3865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24D"/>
          </a:solidFill>
          <a:ln xmlns:a="http://schemas.openxmlformats.org/drawingml/2006/main" w="0">
            <a:solidFill>
              <a:srgbClr val="F0B24D"/>
            </a:solidFill>
            <a:prstDash val="solid"/>
          </a:ln>
        </p:spPr>
      </p:sp>
      <p:sp>
        <p:nvSpPr>
          <p:cNvPr id="119" name="net-c">
            <a:extLst xmlns:a="http://schemas.openxmlformats.org/drawingml/2006/main">
              <a:ext uri="{FF2B5EF4-FFF2-40B4-BE49-F238E27FC236}">
                <a16:creationId xmlns:a16="http://schemas.microsoft.com/office/drawing/2014/main" id="{22480000-FBEC-466B-B8D9-D505CA92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3865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24D"/>
          </a:solidFill>
          <a:ln xmlns:a="http://schemas.openxmlformats.org/drawingml/2006/main" w="0">
            <a:solidFill>
              <a:srgbClr val="F0B24D"/>
            </a:solidFill>
            <a:prstDash val="solid"/>
          </a:ln>
        </p:spPr>
      </p:sp>
      <p:sp>
        <p:nvSpPr>
          <p:cNvPr id="120" name="etl-a">
            <a:extLst xmlns:a="http://schemas.openxmlformats.org/drawingml/2006/main">
              <a:ext uri="{FF2B5EF4-FFF2-40B4-BE49-F238E27FC236}">
                <a16:creationId xmlns:a16="http://schemas.microsoft.com/office/drawing/2014/main" id="{506CB423-4279-413F-90C5-E28CBDBC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2676524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1" name="etl-b">
            <a:extLst xmlns:a="http://schemas.openxmlformats.org/drawingml/2006/main">
              <a:ext uri="{FF2B5EF4-FFF2-40B4-BE49-F238E27FC236}">
                <a16:creationId xmlns:a16="http://schemas.microsoft.com/office/drawing/2014/main" id="{EA070D45-8F25-4855-BB24-274149F1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086" y="3026093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2" name="etl-c">
            <a:extLst xmlns:a="http://schemas.openxmlformats.org/drawingml/2006/main">
              <a:ext uri="{FF2B5EF4-FFF2-40B4-BE49-F238E27FC236}">
                <a16:creationId xmlns:a16="http://schemas.microsoft.com/office/drawing/2014/main" id="{3B7FB922-27B3-40AF-9F07-D63D628D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95" y="3390900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3" name="etl-d">
            <a:extLst xmlns:a="http://schemas.openxmlformats.org/drawingml/2006/main">
              <a:ext uri="{FF2B5EF4-FFF2-40B4-BE49-F238E27FC236}">
                <a16:creationId xmlns:a16="http://schemas.microsoft.com/office/drawing/2014/main" id="{DDC1B71F-DA14-4BBE-B59D-BD23F19B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323" y="3730419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4" name="etl-e">
            <a:extLst xmlns:a="http://schemas.openxmlformats.org/drawingml/2006/main">
              <a:ext uri="{FF2B5EF4-FFF2-40B4-BE49-F238E27FC236}">
                <a16:creationId xmlns:a16="http://schemas.microsoft.com/office/drawing/2014/main" id="{B2C0A605-D02A-4432-B8DE-6238FD8F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323" y="4074414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125" name="core-box">
            <a:extLst xmlns:a="http://schemas.openxmlformats.org/drawingml/2006/main">
              <a:ext uri="{FF2B5EF4-FFF2-40B4-BE49-F238E27FC236}">
                <a16:creationId xmlns:a16="http://schemas.microsoft.com/office/drawing/2014/main" id="{32D0F029-4073-4961-915C-2BF3BE5E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26" name="core-text">
            <a:extLst xmlns:a="http://schemas.openxmlformats.org/drawingml/2006/main">
              <a:ext uri="{FF2B5EF4-FFF2-40B4-BE49-F238E27FC236}">
                <a16:creationId xmlns:a16="http://schemas.microsoft.com/office/drawing/2014/main" id="{1C81D574-216B-4E8A-A511-41F3B447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核心</a:t>
            </a:r>
            <a:br/>
            <a:r>
              <a:rPr sz="1050" b="1">
                <a:solidFill>
                  <a:srgbClr val="FFFFFF"/>
                </a:solidFill>
              </a:rPr>
              <a:t>服务</a:t>
            </a:r>
          </a:p>
        </p:txBody>
      </p:sp>
      <p:sp>
        <p:nvSpPr>
          <p:cNvPr id="127" name="flow-box">
            <a:extLst xmlns:a="http://schemas.openxmlformats.org/drawingml/2006/main">
              <a:ext uri="{FF2B5EF4-FFF2-40B4-BE49-F238E27FC236}">
                <a16:creationId xmlns:a16="http://schemas.microsoft.com/office/drawing/2014/main" id="{D31521C8-E939-4B70-9DBF-8276DDB8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429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28" name="flow-text">
            <a:extLst xmlns:a="http://schemas.openxmlformats.org/drawingml/2006/main">
              <a:ext uri="{FF2B5EF4-FFF2-40B4-BE49-F238E27FC236}">
                <a16:creationId xmlns:a16="http://schemas.microsoft.com/office/drawing/2014/main" id="{B00DE2A2-1487-4C1B-9BBA-E6702DCE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628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处</a:t>
            </a:r>
            <a:br/>
            <a:r>
              <a:rPr sz="1050" b="1">
                <a:solidFill>
                  <a:srgbClr val="FFFFFF"/>
                </a:solidFill>
              </a:rPr>
              <a:t>理</a:t>
            </a:r>
            <a:br/>
            <a:r>
              <a:rPr sz="1050" b="1">
                <a:solidFill>
                  <a:srgbClr val="FFFFFF"/>
                </a:solidFill>
              </a:rPr>
              <a:t>链</a:t>
            </a:r>
            <a:br/>
            <a:r>
              <a:rPr sz="1050" b="1">
                <a:solidFill>
                  <a:srgbClr val="FFFFFF"/>
                </a:solidFill>
              </a:rPr>
              <a:t>路</a:t>
            </a:r>
            <a:br/>
          </a:p>
        </p:txBody>
      </p:sp>
      <p:sp>
        <p:nvSpPr>
          <p:cNvPr id="129" name="infra-box">
            <a:extLst xmlns:a="http://schemas.openxmlformats.org/drawingml/2006/main">
              <a:ext uri="{FF2B5EF4-FFF2-40B4-BE49-F238E27FC236}">
                <a16:creationId xmlns:a16="http://schemas.microsoft.com/office/drawing/2014/main" id="{0CBCFAF9-C621-4071-965F-9A4A0D41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742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7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30" name="infra-text">
            <a:extLst xmlns:a="http://schemas.openxmlformats.org/drawingml/2006/main">
              <a:ext uri="{FF2B5EF4-FFF2-40B4-BE49-F238E27FC236}">
                <a16:creationId xmlns:a16="http://schemas.microsoft.com/office/drawing/2014/main" id="{36899859-F030-42A9-AEAB-21DC983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62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全局</a:t>
            </a:r>
            <a:br/>
            <a:r>
              <a:rPr sz="1050" b="1">
                <a:solidFill>
                  <a:srgbClr val="FFFFFF"/>
                </a:solidFill>
              </a:rPr>
              <a:t>底座</a:t>
            </a:r>
          </a:p>
        </p:txBody>
      </p:sp>
      <p:sp>
        <p:nvSpPr>
          <p:cNvPr id="131" name="service-crawler-box">
            <a:extLst xmlns:a="http://schemas.openxmlformats.org/drawingml/2006/main">
              <a:ext uri="{FF2B5EF4-FFF2-40B4-BE49-F238E27FC236}">
                <a16:creationId xmlns:a16="http://schemas.microsoft.com/office/drawing/2014/main" id="{E9C95A3B-60BE-41C0-90C4-B269E73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32" name="service-crawler-accent">
            <a:extLst xmlns:a="http://schemas.openxmlformats.org/drawingml/2006/main">
              <a:ext uri="{FF2B5EF4-FFF2-40B4-BE49-F238E27FC236}">
                <a16:creationId xmlns:a16="http://schemas.microsoft.com/office/drawing/2014/main" id="{A0E5C67D-B5C6-4DBC-B834-3CD64EE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33" name="service-crawler-title">
            <a:extLst xmlns:a="http://schemas.openxmlformats.org/drawingml/2006/main">
              <a:ext uri="{FF2B5EF4-FFF2-40B4-BE49-F238E27FC236}">
                <a16:creationId xmlns:a16="http://schemas.microsoft.com/office/drawing/2014/main" id="{A36E266E-EE0C-43F9-A59E-8EB3AE88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62481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0A7C4"/>
                </a:solidFill>
              </a:defRPr>
            </a:pPr>
            <a:r>
              <a:rPr sz="1125" b="1">
                <a:solidFill>
                  <a:srgbClr val="00A7C4"/>
                </a:solidFill>
              </a:rPr>
              <a:t>01  </a:t>
            </a:r>
            <a:r>
              <a:rPr sz="1125" b="1">
                <a:solidFill>
                  <a:srgbClr val="00A7C4"/>
                </a:solidFill>
              </a:rPr>
              <a:t>数据采集</a:t>
            </a:r>
          </a:p>
        </p:txBody>
      </p:sp>
      <p:sp>
        <p:nvSpPr>
          <p:cNvPr id="134" name="service-crawler-sub">
            <a:extLst xmlns:a="http://schemas.openxmlformats.org/drawingml/2006/main">
              <a:ext uri="{FF2B5EF4-FFF2-40B4-BE49-F238E27FC236}">
                <a16:creationId xmlns:a16="http://schemas.microsoft.com/office/drawing/2014/main" id="{BAA4FFC2-DEF2-43AB-B4E9-3B5832F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采集、解析并写入原始记录</a:t>
            </a:r>
          </a:p>
        </p:txBody>
      </p:sp>
      <p:sp>
        <p:nvSpPr>
          <p:cNvPr id="135" name="service-downloader-box">
            <a:extLst xmlns:a="http://schemas.openxmlformats.org/drawingml/2006/main">
              <a:ext uri="{FF2B5EF4-FFF2-40B4-BE49-F238E27FC236}">
                <a16:creationId xmlns:a16="http://schemas.microsoft.com/office/drawing/2014/main" id="{444EC8F4-382D-4EAA-8329-64E79F95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36" name="service-downloader-accent">
            <a:extLst xmlns:a="http://schemas.openxmlformats.org/drawingml/2006/main">
              <a:ext uri="{FF2B5EF4-FFF2-40B4-BE49-F238E27FC236}">
                <a16:creationId xmlns:a16="http://schemas.microsoft.com/office/drawing/2014/main" id="{363A6674-0105-4836-86A2-52FB9C74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37" name="service-downloader-title">
            <a:extLst xmlns:a="http://schemas.openxmlformats.org/drawingml/2006/main">
              <a:ext uri="{FF2B5EF4-FFF2-40B4-BE49-F238E27FC236}">
                <a16:creationId xmlns:a16="http://schemas.microsoft.com/office/drawing/2014/main" id="{A22CA31F-0178-414E-9149-2F5C9ECC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59719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764E7"/>
                </a:solidFill>
              </a:defRPr>
            </a:pPr>
            <a:r>
              <a:rPr sz="1125" b="1">
                <a:solidFill>
                  <a:srgbClr val="2764E7"/>
                </a:solidFill>
              </a:rPr>
              <a:t>02  </a:t>
            </a:r>
            <a:r>
              <a:rPr sz="1125" b="1">
                <a:solidFill>
                  <a:srgbClr val="2764E7"/>
                </a:solidFill>
              </a:rPr>
              <a:t>数据下载</a:t>
            </a:r>
          </a:p>
        </p:txBody>
      </p:sp>
      <p:sp>
        <p:nvSpPr>
          <p:cNvPr id="138" name="service-downloader-sub">
            <a:extLst xmlns:a="http://schemas.openxmlformats.org/drawingml/2006/main">
              <a:ext uri="{FF2B5EF4-FFF2-40B4-BE49-F238E27FC236}">
                <a16:creationId xmlns:a16="http://schemas.microsoft.com/office/drawing/2014/main" id="{C3A6D3C4-BBB2-47BF-816F-B766D3E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补齐 PDF / 图片等资源资产</a:t>
            </a:r>
          </a:p>
        </p:txBody>
      </p:sp>
      <p:sp>
        <p:nvSpPr>
          <p:cNvPr id="139" name="service-syncer-box">
            <a:extLst xmlns:a="http://schemas.openxmlformats.org/drawingml/2006/main">
              <a:ext uri="{FF2B5EF4-FFF2-40B4-BE49-F238E27FC236}">
                <a16:creationId xmlns:a16="http://schemas.microsoft.com/office/drawing/2014/main" id="{364FF546-2551-4730-958B-DEB36F3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40" name="service-syncer-accent">
            <a:extLst xmlns:a="http://schemas.openxmlformats.org/drawingml/2006/main">
              <a:ext uri="{FF2B5EF4-FFF2-40B4-BE49-F238E27FC236}">
                <a16:creationId xmlns:a16="http://schemas.microsoft.com/office/drawing/2014/main" id="{11FE6BD5-DC9F-4D63-9BD1-4F588F01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41" name="service-syncer-title">
            <a:extLst xmlns:a="http://schemas.openxmlformats.org/drawingml/2006/main">
              <a:ext uri="{FF2B5EF4-FFF2-40B4-BE49-F238E27FC236}">
                <a16:creationId xmlns:a16="http://schemas.microsoft.com/office/drawing/2014/main" id="{5F9B0345-AD24-44FA-AF50-944FB02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68577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0A202"/>
                </a:solidFill>
              </a:defRPr>
            </a:pPr>
            <a:r>
              <a:rPr sz="1125" b="1">
                <a:solidFill>
                  <a:srgbClr val="F0A202"/>
                </a:solidFill>
              </a:rPr>
              <a:t>03  </a:t>
            </a:r>
            <a:r>
              <a:rPr sz="1125" b="1">
                <a:solidFill>
                  <a:srgbClr val="F0A202"/>
                </a:solidFill>
              </a:rPr>
              <a:t>数据同步</a:t>
            </a:r>
          </a:p>
        </p:txBody>
      </p:sp>
      <p:sp>
        <p:nvSpPr>
          <p:cNvPr id="142" name="service-syncer-sub">
            <a:extLst xmlns:a="http://schemas.openxmlformats.org/drawingml/2006/main">
              <a:ext uri="{FF2B5EF4-FFF2-40B4-BE49-F238E27FC236}">
                <a16:creationId xmlns:a16="http://schemas.microsoft.com/office/drawing/2014/main" id="{E0FAC3A0-6516-4FC6-8E4E-1F1BBF52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将可同步记录推送至 Kafka</a:t>
            </a:r>
          </a:p>
        </p:txBody>
      </p:sp>
      <p:sp>
        <p:nvSpPr>
          <p:cNvPr id="143" name="service-etl-box">
            <a:extLst xmlns:a="http://schemas.openxmlformats.org/drawingml/2006/main">
              <a:ext uri="{FF2B5EF4-FFF2-40B4-BE49-F238E27FC236}">
                <a16:creationId xmlns:a16="http://schemas.microsoft.com/office/drawing/2014/main" id="{05393A44-15A4-4EC8-8522-0981562A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504950"/>
            <a:ext cx="2428875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144" name="service-etl-accent">
            <a:extLst xmlns:a="http://schemas.openxmlformats.org/drawingml/2006/main">
              <a:ext uri="{FF2B5EF4-FFF2-40B4-BE49-F238E27FC236}">
                <a16:creationId xmlns:a16="http://schemas.microsoft.com/office/drawing/2014/main" id="{DE2D9218-EB17-469D-A398-BE85DB04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5049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45" name="service-etl-title">
            <a:extLst xmlns:a="http://schemas.openxmlformats.org/drawingml/2006/main">
              <a:ext uri="{FF2B5EF4-FFF2-40B4-BE49-F238E27FC236}">
                <a16:creationId xmlns:a16="http://schemas.microsoft.com/office/drawing/2014/main" id="{95966814-CFF1-45A2-82F2-432F2AE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576388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0A56A"/>
                </a:solidFill>
              </a:defRPr>
            </a:pPr>
            <a:r>
              <a:rPr sz="1125" b="1">
                <a:solidFill>
                  <a:srgbClr val="10A56A"/>
                </a:solidFill>
              </a:rPr>
              <a:t>04  ETL </a:t>
            </a:r>
            <a:r>
              <a:rPr sz="1125" b="1">
                <a:solidFill>
                  <a:srgbClr val="10A56A"/>
                </a:solidFill>
              </a:rPr>
              <a:t>治理</a:t>
            </a:r>
          </a:p>
        </p:txBody>
      </p:sp>
      <p:sp>
        <p:nvSpPr>
          <p:cNvPr id="146" name="service-etl-sub">
            <a:extLst xmlns:a="http://schemas.openxmlformats.org/drawingml/2006/main">
              <a:ext uri="{FF2B5EF4-FFF2-40B4-BE49-F238E27FC236}">
                <a16:creationId xmlns:a16="http://schemas.microsoft.com/office/drawing/2014/main" id="{4139456F-D47A-4A98-96AD-D25E1C04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907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2677C"/>
                </a:solidFill>
              </a:defRPr>
            </a:pPr>
            <a:r>
              <a:rPr sz="788">
                <a:solidFill>
                  <a:srgbClr val="52677C"/>
                </a:solidFill>
              </a:rPr>
              <a:t>RDS </a:t>
            </a:r>
            <a:r>
              <a:rPr sz="788">
                <a:solidFill>
                  <a:srgbClr val="52677C"/>
                </a:solidFill>
              </a:rPr>
              <a:t>原始层</a:t>
            </a:r>
            <a:r>
              <a:rPr sz="788">
                <a:solidFill>
                  <a:srgbClr val="52677C"/>
                </a:solidFill>
              </a:rPr>
              <a:t> → ODS </a:t>
            </a:r>
            <a:r>
              <a:rPr sz="788">
                <a:solidFill>
                  <a:srgbClr val="52677C"/>
                </a:solidFill>
              </a:rPr>
              <a:t>标准层</a:t>
            </a:r>
            <a:r>
              <a:rPr sz="788">
                <a:solidFill>
                  <a:srgbClr val="52677C"/>
                </a:solidFill>
              </a:rPr>
              <a:t> </a:t>
            </a:r>
            <a:r>
              <a:rPr sz="788">
                <a:solidFill>
                  <a:srgbClr val="52677C"/>
                </a:solidFill>
              </a:rPr>
              <a:t>…</a:t>
            </a:r>
          </a:p>
        </p:txBody>
      </p:sp>
      <p:sp>
        <p:nvSpPr>
          <p:cNvPr id="147" name="raw-domain-frame">
            <a:extLst xmlns:a="http://schemas.openxmlformats.org/drawingml/2006/main">
              <a:ext uri="{FF2B5EF4-FFF2-40B4-BE49-F238E27FC236}">
                <a16:creationId xmlns:a16="http://schemas.microsoft.com/office/drawing/2014/main" id="{B43421AA-4FCD-45BB-AED2-A7B74CCC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5334000" cy="2686050"/>
          </a:xfrm>
          <a:prstGeom xmlns:a="http://schemas.openxmlformats.org/drawingml/2006/main" prst="roundRect">
            <a:avLst>
              <a:gd name="adj" fmla="val 283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FCFDA"/>
            </a:solidFill>
            <a:prstDash val="solid"/>
          </a:ln>
        </p:spPr>
      </p:sp>
      <p:sp>
        <p:nvSpPr>
          <p:cNvPr id="148" name="raw-domain-head">
            <a:extLst xmlns:a="http://schemas.openxmlformats.org/drawingml/2006/main">
              <a:ext uri="{FF2B5EF4-FFF2-40B4-BE49-F238E27FC236}">
                <a16:creationId xmlns:a16="http://schemas.microsoft.com/office/drawing/2014/main" id="{96EDFFAB-8C67-414B-A93E-38152134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9525">
            <a:solidFill>
              <a:srgbClr val="9FCFDA"/>
            </a:solidFill>
            <a:prstDash val="solid"/>
          </a:ln>
        </p:spPr>
      </p:sp>
      <p:sp>
        <p:nvSpPr>
          <p:cNvPr id="149" name="raw-domain-title">
            <a:extLst xmlns:a="http://schemas.openxmlformats.org/drawingml/2006/main">
              <a:ext uri="{FF2B5EF4-FFF2-40B4-BE49-F238E27FC236}">
                <a16:creationId xmlns:a16="http://schemas.microsoft.com/office/drawing/2014/main" id="{09555B13-4E60-4194-B9EA-99367428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0275"/>
            <a:ext cx="506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7F98"/>
                </a:solidFill>
              </a:defRPr>
            </a:pPr>
            <a:r>
              <a:rPr sz="900" b="1">
                <a:solidFill>
                  <a:srgbClr val="007F98"/>
                </a:solidFill>
              </a:rPr>
              <a:t>采集原始域｜已实现｜MongoDB 承载原始数据</a:t>
            </a:r>
          </a:p>
        </p:txBody>
      </p:sp>
      <p:sp>
        <p:nvSpPr>
          <p:cNvPr id="150" name="collector-box">
            <a:extLst xmlns:a="http://schemas.openxmlformats.org/drawingml/2006/main">
              <a:ext uri="{FF2B5EF4-FFF2-40B4-BE49-F238E27FC236}">
                <a16:creationId xmlns:a16="http://schemas.microsoft.com/office/drawing/2014/main" id="{7CDE69E9-5449-4B85-9DE5-30BF7289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09850"/>
            <a:ext cx="1333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51" name="collector-title">
            <a:extLst xmlns:a="http://schemas.openxmlformats.org/drawingml/2006/main">
              <a:ext uri="{FF2B5EF4-FFF2-40B4-BE49-F238E27FC236}">
                <a16:creationId xmlns:a16="http://schemas.microsoft.com/office/drawing/2014/main" id="{58586FCA-11AC-48EA-AA34-F06ADB69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76525"/>
            <a:ext cx="118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A7C4"/>
                </a:solidFill>
              </a:defRPr>
            </a:pPr>
            <a:r>
              <a:rPr sz="900" b="1">
                <a:solidFill>
                  <a:srgbClr val="00A7C4"/>
                </a:solidFill>
              </a:rPr>
              <a:t>数据采集器</a:t>
            </a:r>
          </a:p>
        </p:txBody>
      </p:sp>
      <p:sp>
        <p:nvSpPr>
          <p:cNvPr id="152" name="collector-sub">
            <a:extLst xmlns:a="http://schemas.openxmlformats.org/drawingml/2006/main">
              <a:ext uri="{FF2B5EF4-FFF2-40B4-BE49-F238E27FC236}">
                <a16:creationId xmlns:a16="http://schemas.microsoft.com/office/drawing/2014/main" id="{C678A8BB-029B-440E-A188-D4A022D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479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目标站点 → 原始记录</a:t>
            </a:r>
          </a:p>
        </p:txBody>
      </p:sp>
      <p:sp>
        <p:nvSpPr>
          <p:cNvPr id="153" name="mongodb-box">
            <a:extLst xmlns:a="http://schemas.openxmlformats.org/drawingml/2006/main">
              <a:ext uri="{FF2B5EF4-FFF2-40B4-BE49-F238E27FC236}">
                <a16:creationId xmlns:a16="http://schemas.microsoft.com/office/drawing/2014/main" id="{999AEAAA-41BE-46C9-8E93-066DB8F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49"/>
            <a:ext cx="1333500" cy="600073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54" name="mongodb-title">
            <a:extLst xmlns:a="http://schemas.openxmlformats.org/drawingml/2006/main">
              <a:ext uri="{FF2B5EF4-FFF2-40B4-BE49-F238E27FC236}">
                <a16:creationId xmlns:a16="http://schemas.microsoft.com/office/drawing/2014/main" id="{FA8EE2FD-66E0-4D1F-9F69-9698246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76525"/>
            <a:ext cx="118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A56A"/>
                </a:solidFill>
              </a:defRPr>
            </a:pPr>
            <a:r>
              <a:rPr sz="900" b="1">
                <a:solidFill>
                  <a:srgbClr val="10A56A"/>
                </a:solidFill>
              </a:rPr>
              <a:t>MongoDB</a:t>
            </a:r>
          </a:p>
        </p:txBody>
      </p:sp>
      <p:sp>
        <p:nvSpPr>
          <p:cNvPr id="155" name="mongodb-sub">
            <a:extLst xmlns:a="http://schemas.openxmlformats.org/drawingml/2006/main">
              <a:ext uri="{FF2B5EF4-FFF2-40B4-BE49-F238E27FC236}">
                <a16:creationId xmlns:a16="http://schemas.microsoft.com/office/drawing/2014/main" id="{E954394E-3814-4FB4-88C3-EF109C3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479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raw + 下载/同步状态</a:t>
            </a:r>
          </a:p>
        </p:txBody>
      </p:sp>
      <p:sp>
        <p:nvSpPr>
          <p:cNvPr id="156" name="downloader-box">
            <a:extLst xmlns:a="http://schemas.openxmlformats.org/drawingml/2006/main">
              <a:ext uri="{FF2B5EF4-FFF2-40B4-BE49-F238E27FC236}">
                <a16:creationId xmlns:a16="http://schemas.microsoft.com/office/drawing/2014/main" id="{A285A6B4-9B27-4D77-9489-856C5A8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1562100" cy="4191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57" name="downloader-title">
            <a:extLst xmlns:a="http://schemas.openxmlformats.org/drawingml/2006/main">
              <a:ext uri="{FF2B5EF4-FFF2-40B4-BE49-F238E27FC236}">
                <a16:creationId xmlns:a16="http://schemas.microsoft.com/office/drawing/2014/main" id="{DBDB597B-4C32-4A8A-BCDF-F47536B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47925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764E7"/>
                </a:solidFill>
              </a:defRPr>
            </a:pPr>
            <a:r>
              <a:rPr sz="900" b="1">
                <a:solidFill>
                  <a:srgbClr val="2764E7"/>
                </a:solidFill>
              </a:rPr>
              <a:t>数据下载器</a:t>
            </a:r>
          </a:p>
        </p:txBody>
      </p:sp>
      <p:sp>
        <p:nvSpPr>
          <p:cNvPr id="158" name="downloader-sub">
            <a:extLst xmlns:a="http://schemas.openxmlformats.org/drawingml/2006/main">
              <a:ext uri="{FF2B5EF4-FFF2-40B4-BE49-F238E27FC236}">
                <a16:creationId xmlns:a16="http://schemas.microsoft.com/office/drawing/2014/main" id="{12B25CE7-F42A-4F3B-BABC-4DA2F61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193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读取 pending_downloads</a:t>
            </a:r>
          </a:p>
        </p:txBody>
      </p:sp>
      <p:sp>
        <p:nvSpPr>
          <p:cNvPr id="159" name="minio-box">
            <a:extLst xmlns:a="http://schemas.openxmlformats.org/drawingml/2006/main">
              <a:ext uri="{FF2B5EF4-FFF2-40B4-BE49-F238E27FC236}">
                <a16:creationId xmlns:a16="http://schemas.microsoft.com/office/drawing/2014/main" id="{C437BD20-C5EC-4401-93C7-1B476660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8470"/>
            <a:ext cx="1562100" cy="376237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60" name="minio-title">
            <a:extLst xmlns:a="http://schemas.openxmlformats.org/drawingml/2006/main">
              <a:ext uri="{FF2B5EF4-FFF2-40B4-BE49-F238E27FC236}">
                <a16:creationId xmlns:a16="http://schemas.microsoft.com/office/drawing/2014/main" id="{F6113F1B-C90A-4797-9C7C-2F203818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14663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764E7"/>
                </a:solidFill>
              </a:defRPr>
            </a:pPr>
            <a:r>
              <a:rPr sz="900" b="1">
                <a:solidFill>
                  <a:srgbClr val="2764E7"/>
                </a:solidFill>
              </a:rPr>
              <a:t>MinIO</a:t>
            </a:r>
          </a:p>
        </p:txBody>
      </p:sp>
      <p:sp>
        <p:nvSpPr>
          <p:cNvPr id="161" name="minio-sub">
            <a:extLst xmlns:a="http://schemas.openxmlformats.org/drawingml/2006/main">
              <a:ext uri="{FF2B5EF4-FFF2-40B4-BE49-F238E27FC236}">
                <a16:creationId xmlns:a16="http://schemas.microsoft.com/office/drawing/2014/main" id="{5DD45F95-06F3-4A9F-9874-FA1D022B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7906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下载必要资源并回写状态</a:t>
            </a:r>
          </a:p>
        </p:txBody>
      </p:sp>
      <p:sp>
        <p:nvSpPr>
          <p:cNvPr id="162" name="syncer-box">
            <a:extLst xmlns:a="http://schemas.openxmlformats.org/drawingml/2006/main">
              <a:ext uri="{FF2B5EF4-FFF2-40B4-BE49-F238E27FC236}">
                <a16:creationId xmlns:a16="http://schemas.microsoft.com/office/drawing/2014/main" id="{D046571C-84F6-4813-81C7-6CCCD31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9013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63" name="syncer-title">
            <a:extLst xmlns:a="http://schemas.openxmlformats.org/drawingml/2006/main">
              <a:ext uri="{FF2B5EF4-FFF2-40B4-BE49-F238E27FC236}">
                <a16:creationId xmlns:a16="http://schemas.microsoft.com/office/drawing/2014/main" id="{F898C32D-DC2A-4611-B40F-D3B83A3B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00450"/>
            <a:ext cx="118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数据同步器</a:t>
            </a:r>
          </a:p>
        </p:txBody>
      </p:sp>
      <p:sp>
        <p:nvSpPr>
          <p:cNvPr id="164" name="syncer-sub">
            <a:extLst xmlns:a="http://schemas.openxmlformats.org/drawingml/2006/main">
              <a:ext uri="{FF2B5EF4-FFF2-40B4-BE49-F238E27FC236}">
                <a16:creationId xmlns:a16="http://schemas.microsoft.com/office/drawing/2014/main" id="{38443633-164D-4B4D-B616-5440F49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7671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读取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ready_to_sync</a:t>
            </a:r>
          </a:p>
        </p:txBody>
      </p:sp>
      <p:sp>
        <p:nvSpPr>
          <p:cNvPr id="165" name="kafka-raw-box">
            <a:extLst xmlns:a="http://schemas.openxmlformats.org/drawingml/2006/main">
              <a:ext uri="{FF2B5EF4-FFF2-40B4-BE49-F238E27FC236}">
                <a16:creationId xmlns:a16="http://schemas.microsoft.com/office/drawing/2014/main" id="{F87AA5A0-561B-4CDB-B9D6-E7964BB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38538"/>
            <a:ext cx="1562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66" name="kafka-raw-title">
            <a:extLst xmlns:a="http://schemas.openxmlformats.org/drawingml/2006/main">
              <a:ext uri="{FF2B5EF4-FFF2-40B4-BE49-F238E27FC236}">
                <a16:creationId xmlns:a16="http://schemas.microsoft.com/office/drawing/2014/main" id="{A0C78542-8A43-481B-844E-7E7C5EBC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14725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Kafka raw topic</a:t>
            </a:r>
          </a:p>
        </p:txBody>
      </p:sp>
      <p:sp>
        <p:nvSpPr>
          <p:cNvPr id="167" name="kafka-raw-sub">
            <a:extLst xmlns:a="http://schemas.openxmlformats.org/drawingml/2006/main">
              <a:ext uri="{FF2B5EF4-FFF2-40B4-BE49-F238E27FC236}">
                <a16:creationId xmlns:a16="http://schemas.microsoft.com/office/drawing/2014/main" id="{C0B3BCEB-179E-4322-BBC1-461A17A7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861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推送原始消息 / 回写 sync_status</a:t>
            </a:r>
          </a:p>
        </p:txBody>
      </p:sp>
      <p:sp>
        <p:nvSpPr>
          <p:cNvPr id="168" name="network-label">
            <a:extLst xmlns:a="http://schemas.openxmlformats.org/drawingml/2006/main">
              <a:ext uri="{FF2B5EF4-FFF2-40B4-BE49-F238E27FC236}">
                <a16:creationId xmlns:a16="http://schemas.microsoft.com/office/drawing/2014/main" id="{BA0BF189-B28E-47CA-B0BB-0E22C3B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B57600"/>
                </a:solidFill>
              </a:defRPr>
            </a:pPr>
            <a:r>
              <a:rPr sz="863" b="1">
                <a:solidFill>
                  <a:srgbClr val="B57600"/>
                </a:solidFill>
              </a:rPr>
              <a:t>采集网络双跳｜PRE_PROXY</a:t>
            </a:r>
            <a:r>
              <a:rPr sz="863" b="1">
                <a:solidFill>
                  <a:srgbClr val="B57600"/>
                </a:solidFill>
              </a:rPr>
              <a:t> + Proxy</a:t>
            </a:r>
          </a:p>
        </p:txBody>
      </p:sp>
      <p:sp>
        <p:nvSpPr>
          <p:cNvPr id="169" name="net-cn-box">
            <a:extLst xmlns:a="http://schemas.openxmlformats.org/drawingml/2006/main">
              <a:ext uri="{FF2B5EF4-FFF2-40B4-BE49-F238E27FC236}">
                <a16:creationId xmlns:a16="http://schemas.microsoft.com/office/drawing/2014/main" id="{0D2CF0FC-5F79-4D33-B93A-2555B1F8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10572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70" name="net-cn-title">
            <a:extLst xmlns:a="http://schemas.openxmlformats.org/drawingml/2006/main">
              <a:ext uri="{FF2B5EF4-FFF2-40B4-BE49-F238E27FC236}">
                <a16:creationId xmlns:a16="http://schemas.microsoft.com/office/drawing/2014/main" id="{7E747682-8E8B-4885-A335-6CC7E649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904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4F7C"/>
                </a:solidFill>
              </a:defRPr>
            </a:pPr>
            <a:r>
              <a:rPr sz="900" b="1">
                <a:solidFill>
                  <a:srgbClr val="244F7C"/>
                </a:solidFill>
              </a:rPr>
              <a:t>国内服务器</a:t>
            </a:r>
          </a:p>
        </p:txBody>
      </p:sp>
      <p:sp>
        <p:nvSpPr>
          <p:cNvPr id="171" name="net-cn-sub">
            <a:extLst xmlns:a="http://schemas.openxmlformats.org/drawingml/2006/main">
              <a:ext uri="{FF2B5EF4-FFF2-40B4-BE49-F238E27FC236}">
                <a16:creationId xmlns:a16="http://schemas.microsoft.com/office/drawing/2014/main" id="{21F03E00-B214-4623-85DD-61BE813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0532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采集容器</a:t>
            </a:r>
          </a:p>
        </p:txBody>
      </p:sp>
      <p:sp>
        <p:nvSpPr>
          <p:cNvPr id="172" name="net-hk-box">
            <a:extLst xmlns:a="http://schemas.openxmlformats.org/drawingml/2006/main">
              <a:ext uri="{FF2B5EF4-FFF2-40B4-BE49-F238E27FC236}">
                <a16:creationId xmlns:a16="http://schemas.microsoft.com/office/drawing/2014/main" id="{C1FB863C-FBFB-4377-95EA-6D61568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6720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73" name="net-hk-title">
            <a:extLst xmlns:a="http://schemas.openxmlformats.org/drawingml/2006/main">
              <a:ext uri="{FF2B5EF4-FFF2-40B4-BE49-F238E27FC236}">
                <a16:creationId xmlns:a16="http://schemas.microsoft.com/office/drawing/2014/main" id="{B70B1335-34BD-420B-96BF-12D6B5A8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914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香港服务器</a:t>
            </a:r>
          </a:p>
        </p:txBody>
      </p:sp>
      <p:sp>
        <p:nvSpPr>
          <p:cNvPr id="174" name="net-hk-sub">
            <a:extLst xmlns:a="http://schemas.openxmlformats.org/drawingml/2006/main">
              <a:ext uri="{FF2B5EF4-FFF2-40B4-BE49-F238E27FC236}">
                <a16:creationId xmlns:a16="http://schemas.microsoft.com/office/drawing/2014/main" id="{F49A7F1A-6C6B-47C1-8A6E-2F34C09B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05324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SOCKS5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PRE_PROXY</a:t>
            </a:r>
          </a:p>
        </p:txBody>
      </p:sp>
      <p:sp>
        <p:nvSpPr>
          <p:cNvPr id="175" name="net-exit-box">
            <a:extLst xmlns:a="http://schemas.openxmlformats.org/drawingml/2006/main">
              <a:ext uri="{FF2B5EF4-FFF2-40B4-BE49-F238E27FC236}">
                <a16:creationId xmlns:a16="http://schemas.microsoft.com/office/drawing/2014/main" id="{C7436130-19E7-4126-939C-E20AF942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1066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76" name="net-exit-title">
            <a:extLst xmlns:a="http://schemas.openxmlformats.org/drawingml/2006/main">
              <a:ext uri="{FF2B5EF4-FFF2-40B4-BE49-F238E27FC236}">
                <a16:creationId xmlns:a16="http://schemas.microsoft.com/office/drawing/2014/main" id="{7E169E57-A254-44E7-A71D-053E8988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33876"/>
            <a:ext cx="1066800" cy="171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0A202"/>
                </a:solidFill>
              </a:defRPr>
            </a:pPr>
            <a:r>
              <a:rPr sz="900" b="1">
                <a:solidFill>
                  <a:srgbClr val="F0A202"/>
                </a:solidFill>
              </a:rPr>
              <a:t>动态海外出口</a:t>
            </a:r>
            <a:r>
              <a:rPr sz="900" b="1">
                <a:solidFill>
                  <a:srgbClr val="F0A202"/>
                </a:solidFill>
              </a:rPr>
              <a:t> IP</a:t>
            </a:r>
          </a:p>
        </p:txBody>
      </p:sp>
      <p:sp>
        <p:nvSpPr>
          <p:cNvPr id="177" name="net-exit-sub">
            <a:extLst xmlns:a="http://schemas.openxmlformats.org/drawingml/2006/main">
              <a:ext uri="{FF2B5EF4-FFF2-40B4-BE49-F238E27FC236}">
                <a16:creationId xmlns:a16="http://schemas.microsoft.com/office/drawing/2014/main" id="{9A68E395-486D-4E83-A084-DF2AE056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053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HTTP(S) Proxy</a:t>
            </a:r>
          </a:p>
        </p:txBody>
      </p:sp>
      <p:sp>
        <p:nvSpPr>
          <p:cNvPr id="178" name="net-target-box">
            <a:extLst xmlns:a="http://schemas.openxmlformats.org/drawingml/2006/main">
              <a:ext uri="{FF2B5EF4-FFF2-40B4-BE49-F238E27FC236}">
                <a16:creationId xmlns:a16="http://schemas.microsoft.com/office/drawing/2014/main" id="{BB73E8C6-53A8-4560-9157-D52CB790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67200"/>
            <a:ext cx="11144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44F7C"/>
            </a:solidFill>
            <a:prstDash val="solid"/>
          </a:ln>
        </p:spPr>
      </p:sp>
      <p:sp>
        <p:nvSpPr>
          <p:cNvPr id="179" name="net-target-title">
            <a:extLst xmlns:a="http://schemas.openxmlformats.org/drawingml/2006/main">
              <a:ext uri="{FF2B5EF4-FFF2-40B4-BE49-F238E27FC236}">
                <a16:creationId xmlns:a16="http://schemas.microsoft.com/office/drawing/2014/main" id="{C95F4CE2-501E-4C98-87FE-0659A25E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33875"/>
            <a:ext cx="962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4F7C"/>
                </a:solidFill>
              </a:defRPr>
            </a:pPr>
            <a:r>
              <a:rPr sz="900" b="1">
                <a:solidFill>
                  <a:srgbClr val="244F7C"/>
                </a:solidFill>
              </a:rPr>
              <a:t>目标网站</a:t>
            </a:r>
          </a:p>
        </p:txBody>
      </p:sp>
      <p:sp>
        <p:nvSpPr>
          <p:cNvPr id="180" name="net-target-sub">
            <a:extLst xmlns:a="http://schemas.openxmlformats.org/drawingml/2006/main">
              <a:ext uri="{FF2B5EF4-FFF2-40B4-BE49-F238E27FC236}">
                <a16:creationId xmlns:a16="http://schemas.microsoft.com/office/drawing/2014/main" id="{E692F528-C0E7-4E64-8BDB-C581A314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505325"/>
            <a:ext cx="962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页面 / 资源 URL</a:t>
            </a:r>
          </a:p>
        </p:txBody>
      </p:sp>
      <p:sp>
        <p:nvSpPr>
          <p:cNvPr id="181" name="etl-domain-frame">
            <a:extLst xmlns:a="http://schemas.openxmlformats.org/drawingml/2006/main">
              <a:ext uri="{FF2B5EF4-FFF2-40B4-BE49-F238E27FC236}">
                <a16:creationId xmlns:a16="http://schemas.microsoft.com/office/drawing/2014/main" id="{BB65F788-0DCD-4095-A33C-37F61C6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705350" cy="2686050"/>
          </a:xfrm>
          <a:prstGeom xmlns:a="http://schemas.openxmlformats.org/drawingml/2006/main" prst="roundRect">
            <a:avLst>
              <a:gd name="adj" fmla="val 283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9D5B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2" name="etl-domain-head">
            <a:extLst xmlns:a="http://schemas.openxmlformats.org/drawingml/2006/main">
              <a:ext uri="{FF2B5EF4-FFF2-40B4-BE49-F238E27FC236}">
                <a16:creationId xmlns:a16="http://schemas.microsoft.com/office/drawing/2014/main" id="{EB96E2C6-67F7-494D-8E91-159C0AD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83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A9D5BC"/>
            </a:solidFill>
            <a:prstDash val="solid"/>
          </a:ln>
        </p:spPr>
      </p:sp>
      <p:sp>
        <p:nvSpPr>
          <p:cNvPr id="183" name="etl-domain-title">
            <a:extLst xmlns:a="http://schemas.openxmlformats.org/drawingml/2006/main">
              <a:ext uri="{FF2B5EF4-FFF2-40B4-BE49-F238E27FC236}">
                <a16:creationId xmlns:a16="http://schemas.microsoft.com/office/drawing/2014/main" id="{7ACB5E3C-35F3-4EAD-A224-EA517661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0275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8655"/>
                </a:solidFill>
              </a:defRPr>
            </a:pPr>
            <a:r>
              <a:rPr sz="900" b="1">
                <a:solidFill>
                  <a:srgbClr val="0B8655"/>
                </a:solidFill>
              </a:rPr>
              <a:t>ETL 治理域｜规划中｜PostgreSQL 承载结构化数据</a:t>
            </a:r>
          </a:p>
        </p:txBody>
      </p:sp>
      <p:sp>
        <p:nvSpPr>
          <p:cNvPr id="184" name="etl-raw-box">
            <a:extLst xmlns:a="http://schemas.openxmlformats.org/drawingml/2006/main">
              <a:ext uri="{FF2B5EF4-FFF2-40B4-BE49-F238E27FC236}">
                <a16:creationId xmlns:a16="http://schemas.microsoft.com/office/drawing/2014/main" id="{E5739339-CDBB-46BB-BF2E-EAEBE5C5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38399"/>
            <a:ext cx="3214497" cy="23812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85" name="etl-raw-title">
            <a:extLst xmlns:a="http://schemas.openxmlformats.org/drawingml/2006/main">
              <a:ext uri="{FF2B5EF4-FFF2-40B4-BE49-F238E27FC236}">
                <a16:creationId xmlns:a16="http://schemas.microsoft.com/office/drawing/2014/main" id="{C33E8908-CB57-44C6-B578-7E0F6676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52687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0A202"/>
                </a:solidFill>
              </a:defRPr>
            </a:pPr>
            <a:r>
              <a:rPr sz="788" b="1">
                <a:solidFill>
                  <a:srgbClr val="F0A202"/>
                </a:solidFill>
              </a:rPr>
              <a:t>Kafka raw topic</a:t>
            </a:r>
          </a:p>
        </p:txBody>
      </p:sp>
      <p:sp>
        <p:nvSpPr>
          <p:cNvPr id="186" name="etl-raw-detail">
            <a:extLst xmlns:a="http://schemas.openxmlformats.org/drawingml/2006/main">
              <a:ext uri="{FF2B5EF4-FFF2-40B4-BE49-F238E27FC236}">
                <a16:creationId xmlns:a16="http://schemas.microsoft.com/office/drawing/2014/main" id="{5144DCEC-0742-4F1F-B493-9C2D9E3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采集侧原始消息入口</a:t>
            </a:r>
          </a:p>
        </p:txBody>
      </p:sp>
      <p:sp>
        <p:nvSpPr>
          <p:cNvPr id="187" name="etl-rds-worker-box">
            <a:extLst xmlns:a="http://schemas.openxmlformats.org/drawingml/2006/main">
              <a:ext uri="{FF2B5EF4-FFF2-40B4-BE49-F238E27FC236}">
                <a16:creationId xmlns:a16="http://schemas.microsoft.com/office/drawing/2014/main" id="{5E74DE6A-AD02-4EF4-9EF7-08235F6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86062"/>
            <a:ext cx="3219450" cy="23812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BF6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88" name="etl-rds-worker-title">
            <a:extLst xmlns:a="http://schemas.openxmlformats.org/drawingml/2006/main">
              <a:ext uri="{FF2B5EF4-FFF2-40B4-BE49-F238E27FC236}">
                <a16:creationId xmlns:a16="http://schemas.microsoft.com/office/drawing/2014/main" id="{9B68B82C-9EE1-458A-AE82-291BC52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9082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0A56A"/>
                </a:solidFill>
              </a:defRPr>
            </a:pPr>
            <a:r>
              <a:rPr sz="788" b="1">
                <a:solidFill>
                  <a:srgbClr val="10A56A"/>
                </a:solidFill>
              </a:rPr>
              <a:t>RDS Worker</a:t>
            </a:r>
          </a:p>
        </p:txBody>
      </p:sp>
      <p:sp>
        <p:nvSpPr>
          <p:cNvPr id="189" name="etl-rds-worker-detail">
            <a:extLst xmlns:a="http://schemas.openxmlformats.org/drawingml/2006/main">
              <a:ext uri="{FF2B5EF4-FFF2-40B4-BE49-F238E27FC236}">
                <a16:creationId xmlns:a16="http://schemas.microsoft.com/office/drawing/2014/main" id="{9844410C-A240-4F47-8BF9-8268A384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14065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监听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raw，保留</a:t>
            </a:r>
            <a:r>
              <a:rPr sz="713">
                <a:solidFill>
                  <a:srgbClr val="52677C"/>
                </a:solidFill>
              </a:rPr>
              <a:t> </a:t>
            </a:r>
            <a:r>
              <a:rPr sz="713">
                <a:solidFill>
                  <a:srgbClr val="52677C"/>
                </a:solidFill>
              </a:rPr>
              <a:t>raw_data</a:t>
            </a:r>
            <a:r>
              <a:rPr sz="713">
                <a:solidFill>
                  <a:srgbClr val="52677C"/>
                </a:solidFill>
              </a:rPr>
              <a:t> 并 </a:t>
            </a:r>
            <a:r>
              <a:rPr sz="713">
                <a:solidFill>
                  <a:srgbClr val="52677C"/>
                </a:solidFill>
              </a:rPr>
              <a:t>upsert</a:t>
            </a:r>
          </a:p>
        </p:txBody>
      </p:sp>
      <p:sp>
        <p:nvSpPr>
          <p:cNvPr id="190" name="etl-rds-db-box">
            <a:extLst xmlns:a="http://schemas.openxmlformats.org/drawingml/2006/main">
              <a:ext uri="{FF2B5EF4-FFF2-40B4-BE49-F238E27FC236}">
                <a16:creationId xmlns:a16="http://schemas.microsoft.com/office/drawing/2014/main" id="{0FC59C01-A724-46CA-8196-35666CC5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43250"/>
            <a:ext cx="3219450" cy="231457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91" name="etl-rds-db-title">
            <a:extLst xmlns:a="http://schemas.openxmlformats.org/drawingml/2006/main">
              <a:ext uri="{FF2B5EF4-FFF2-40B4-BE49-F238E27FC236}">
                <a16:creationId xmlns:a16="http://schemas.microsoft.com/office/drawing/2014/main" id="{86090EDE-FB3B-4F9D-A1DF-C542960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06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764E7"/>
                </a:solidFill>
              </a:defRPr>
            </a:pPr>
            <a:r>
              <a:rPr sz="788" b="1">
                <a:solidFill>
                  <a:srgbClr val="2764E7"/>
                </a:solidFill>
              </a:rPr>
              <a:t>PostgreSQL </a:t>
            </a:r>
            <a:r>
              <a:rPr sz="788" b="1">
                <a:solidFill>
                  <a:srgbClr val="2764E7"/>
                </a:solidFill>
              </a:rPr>
              <a:t>ts_rds</a:t>
            </a:r>
          </a:p>
        </p:txBody>
      </p:sp>
      <p:sp>
        <p:nvSpPr>
          <p:cNvPr id="192" name="etl-rds-db-detail">
            <a:extLst xmlns:a="http://schemas.openxmlformats.org/drawingml/2006/main">
              <a:ext uri="{FF2B5EF4-FFF2-40B4-BE49-F238E27FC236}">
                <a16:creationId xmlns:a16="http://schemas.microsoft.com/office/drawing/2014/main" id="{D7AB42FD-D7BD-4D78-A98C-FBE64F0E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59443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RDS </a:t>
            </a:r>
            <a:r>
              <a:rPr sz="713">
                <a:solidFill>
                  <a:srgbClr val="52677C"/>
                </a:solidFill>
              </a:rPr>
              <a:t>原始层结构化落库</a:t>
            </a:r>
          </a:p>
        </p:txBody>
      </p:sp>
      <p:sp>
        <p:nvSpPr>
          <p:cNvPr id="193" name="etl-rds-topic-box">
            <a:extLst xmlns:a="http://schemas.openxmlformats.org/drawingml/2006/main">
              <a:ext uri="{FF2B5EF4-FFF2-40B4-BE49-F238E27FC236}">
                <a16:creationId xmlns:a16="http://schemas.microsoft.com/office/drawing/2014/main" id="{1611DB53-D789-4C9E-91CA-F1C4513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72" y="3497580"/>
            <a:ext cx="3219450" cy="238124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94" name="etl-rds-topic-title">
            <a:extLst xmlns:a="http://schemas.openxmlformats.org/drawingml/2006/main">
              <a:ext uri="{FF2B5EF4-FFF2-40B4-BE49-F238E27FC236}">
                <a16:creationId xmlns:a16="http://schemas.microsoft.com/office/drawing/2014/main" id="{F1655BAA-B966-4BCD-BB8B-A32F193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820" y="350139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0A202"/>
                </a:solidFill>
              </a:defRPr>
            </a:pPr>
            <a:r>
              <a:rPr sz="788" b="1">
                <a:solidFill>
                  <a:srgbClr val="F0A202"/>
                </a:solidFill>
              </a:rPr>
              <a:t>Kafka RDS topic</a:t>
            </a:r>
          </a:p>
        </p:txBody>
      </p:sp>
      <p:sp>
        <p:nvSpPr>
          <p:cNvPr id="195" name="etl-rds-topic-detail">
            <a:extLst xmlns:a="http://schemas.openxmlformats.org/drawingml/2006/main">
              <a:ext uri="{FF2B5EF4-FFF2-40B4-BE49-F238E27FC236}">
                <a16:creationId xmlns:a16="http://schemas.microsoft.com/office/drawing/2014/main" id="{D0E5AA7B-4C9B-45F2-8C5E-1A117F87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5438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RDS </a:t>
            </a:r>
            <a:r>
              <a:rPr sz="713">
                <a:solidFill>
                  <a:srgbClr val="52677C"/>
                </a:solidFill>
              </a:rPr>
              <a:t>落库后再次推送</a:t>
            </a:r>
          </a:p>
        </p:txBody>
      </p:sp>
      <p:sp>
        <p:nvSpPr>
          <p:cNvPr id="196" name="etl-ods-worker-box">
            <a:extLst xmlns:a="http://schemas.openxmlformats.org/drawingml/2006/main">
              <a:ext uri="{FF2B5EF4-FFF2-40B4-BE49-F238E27FC236}">
                <a16:creationId xmlns:a16="http://schemas.microsoft.com/office/drawing/2014/main" id="{6F9D4014-D79C-44E5-AA4E-0D91BEF9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72" y="3843338"/>
            <a:ext cx="3219450" cy="226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BF6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97" name="etl-ods-worker-title">
            <a:extLst xmlns:a="http://schemas.openxmlformats.org/drawingml/2006/main">
              <a:ext uri="{FF2B5EF4-FFF2-40B4-BE49-F238E27FC236}">
                <a16:creationId xmlns:a16="http://schemas.microsoft.com/office/drawing/2014/main" id="{4BA79476-5557-461B-BA19-36AD8C68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40719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0A56A"/>
                </a:solidFill>
              </a:defRPr>
            </a:pPr>
            <a:r>
              <a:rPr sz="788" b="1">
                <a:solidFill>
                  <a:srgbClr val="10A56A"/>
                </a:solidFill>
              </a:rPr>
              <a:t>ODS Worker</a:t>
            </a:r>
          </a:p>
        </p:txBody>
      </p:sp>
      <p:sp>
        <p:nvSpPr>
          <p:cNvPr id="198" name="etl-ods-worker-detail">
            <a:extLst xmlns:a="http://schemas.openxmlformats.org/drawingml/2006/main">
              <a:ext uri="{FF2B5EF4-FFF2-40B4-BE49-F238E27FC236}">
                <a16:creationId xmlns:a16="http://schemas.microsoft.com/office/drawing/2014/main" id="{F6F3343F-968F-44C8-8123-7E73800F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50005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标准化</a:t>
            </a:r>
            <a:r>
              <a:rPr sz="713">
                <a:solidFill>
                  <a:srgbClr val="52677C"/>
                </a:solidFill>
              </a:rPr>
              <a:t> + </a:t>
            </a:r>
            <a:r>
              <a:rPr sz="713">
                <a:solidFill>
                  <a:srgbClr val="52677C"/>
                </a:solidFill>
              </a:rPr>
              <a:t>同类型路由</a:t>
            </a:r>
            <a:r>
              <a:rPr sz="713">
                <a:solidFill>
                  <a:srgbClr val="52677C"/>
                </a:solidFill>
              </a:rPr>
              <a:t> / </a:t>
            </a:r>
            <a:r>
              <a:rPr sz="713">
                <a:solidFill>
                  <a:srgbClr val="52677C"/>
                </a:solidFill>
              </a:rPr>
              <a:t>upsert</a:t>
            </a:r>
          </a:p>
        </p:txBody>
      </p:sp>
      <p:sp>
        <p:nvSpPr>
          <p:cNvPr id="199" name="etl-ods-db-box">
            <a:extLst xmlns:a="http://schemas.openxmlformats.org/drawingml/2006/main">
              <a:ext uri="{FF2B5EF4-FFF2-40B4-BE49-F238E27FC236}">
                <a16:creationId xmlns:a16="http://schemas.microsoft.com/office/drawing/2014/main" id="{E51AE0A4-C4CB-471B-AE00-3331440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85666"/>
            <a:ext cx="32194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00" name="etl-ods-db-title">
            <a:extLst xmlns:a="http://schemas.openxmlformats.org/drawingml/2006/main">
              <a:ext uri="{FF2B5EF4-FFF2-40B4-BE49-F238E27FC236}">
                <a16:creationId xmlns:a16="http://schemas.microsoft.com/office/drawing/2014/main" id="{26168A39-B891-4B0B-88D2-B6F5268E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064" y="4186237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764E7"/>
                </a:solidFill>
              </a:defRPr>
            </a:pPr>
            <a:r>
              <a:rPr sz="788" b="1">
                <a:solidFill>
                  <a:srgbClr val="2764E7"/>
                </a:solidFill>
              </a:rPr>
              <a:t>PostgreSQL </a:t>
            </a:r>
            <a:r>
              <a:rPr sz="788" b="1">
                <a:solidFill>
                  <a:srgbClr val="2764E7"/>
                </a:solidFill>
              </a:rPr>
              <a:t>ts_ods</a:t>
            </a:r>
          </a:p>
        </p:txBody>
      </p:sp>
      <p:sp>
        <p:nvSpPr>
          <p:cNvPr id="201" name="etl-ods-db-detail">
            <a:extLst xmlns:a="http://schemas.openxmlformats.org/drawingml/2006/main">
              <a:ext uri="{FF2B5EF4-FFF2-40B4-BE49-F238E27FC236}">
                <a16:creationId xmlns:a16="http://schemas.microsoft.com/office/drawing/2014/main" id="{0DB18913-0CD0-4BD7-BFC9-B3BDC587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91762"/>
            <a:ext cx="1866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52677C"/>
                </a:solidFill>
              </a:defRPr>
            </a:pPr>
            <a:r>
              <a:rPr sz="713">
                <a:solidFill>
                  <a:srgbClr val="52677C"/>
                </a:solidFill>
              </a:rPr>
              <a:t>ODS </a:t>
            </a:r>
            <a:r>
              <a:rPr sz="713">
                <a:solidFill>
                  <a:srgbClr val="52677C"/>
                </a:solidFill>
              </a:rPr>
              <a:t>标准层同类型结果落库</a:t>
            </a:r>
          </a:p>
        </p:txBody>
      </p:sp>
      <p:sp>
        <p:nvSpPr>
          <p:cNvPr id="202" name="infra-0-box">
            <a:extLst xmlns:a="http://schemas.openxmlformats.org/drawingml/2006/main">
              <a:ext uri="{FF2B5EF4-FFF2-40B4-BE49-F238E27FC236}">
                <a16:creationId xmlns:a16="http://schemas.microsoft.com/office/drawing/2014/main" id="{9CAE3093-6636-43E7-AC9A-80B21B7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32766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203" name="infra-0-head">
            <a:extLst xmlns:a="http://schemas.openxmlformats.org/drawingml/2006/main">
              <a:ext uri="{FF2B5EF4-FFF2-40B4-BE49-F238E27FC236}">
                <a16:creationId xmlns:a16="http://schemas.microsoft.com/office/drawing/2014/main" id="{33D2D13B-0777-404B-BD01-837258A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204" name="infra-0-title">
            <a:extLst xmlns:a="http://schemas.openxmlformats.org/drawingml/2006/main">
              <a:ext uri="{FF2B5EF4-FFF2-40B4-BE49-F238E27FC236}">
                <a16:creationId xmlns:a16="http://schemas.microsoft.com/office/drawing/2014/main" id="{C8DA6CE8-3CDA-468D-BFDF-238B2C5B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00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205" name="infra-0-sub">
            <a:extLst xmlns:a="http://schemas.openxmlformats.org/drawingml/2006/main">
              <a:ext uri="{FF2B5EF4-FFF2-40B4-BE49-F238E27FC236}">
                <a16:creationId xmlns:a16="http://schemas.microsoft.com/office/drawing/2014/main" id="{33CDFF96-20CB-4A53-AB3A-DF8731F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40556C"/>
                </a:solidFill>
              </a:defRPr>
            </a:pPr>
            <a:r>
              <a:rPr sz="788" b="1">
                <a:solidFill>
                  <a:srgbClr val="40556C"/>
                </a:solidFill>
              </a:rPr>
              <a:t>去重 / Checkpoint / 代理租约 / ETL offset</a:t>
            </a:r>
          </a:p>
        </p:txBody>
      </p:sp>
      <p:sp>
        <p:nvSpPr>
          <p:cNvPr id="206" name="infra-1-box">
            <a:extLst xmlns:a="http://schemas.openxmlformats.org/drawingml/2006/main">
              <a:ext uri="{FF2B5EF4-FFF2-40B4-BE49-F238E27FC236}">
                <a16:creationId xmlns:a16="http://schemas.microsoft.com/office/drawing/2014/main" id="{076B2155-D86C-4482-B5FC-C5B56DE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10150"/>
            <a:ext cx="32766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207" name="infra-1-head">
            <a:extLst xmlns:a="http://schemas.openxmlformats.org/drawingml/2006/main">
              <a:ext uri="{FF2B5EF4-FFF2-40B4-BE49-F238E27FC236}">
                <a16:creationId xmlns:a16="http://schemas.microsoft.com/office/drawing/2014/main" id="{4A07AD56-8CFB-4CEB-848D-F38B158D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673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202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208" name="infra-1-title">
            <a:extLst xmlns:a="http://schemas.openxmlformats.org/drawingml/2006/main">
              <a:ext uri="{FF2B5EF4-FFF2-40B4-BE49-F238E27FC236}">
                <a16:creationId xmlns:a16="http://schemas.microsoft.com/office/drawing/2014/main" id="{997F2FB8-C007-4BAF-945B-7992ADC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00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209" name="infra-1-sub">
            <a:extLst xmlns:a="http://schemas.openxmlformats.org/drawingml/2006/main">
              <a:ext uri="{FF2B5EF4-FFF2-40B4-BE49-F238E27FC236}">
                <a16:creationId xmlns:a16="http://schemas.microsoft.com/office/drawing/2014/main" id="{B4877794-DDF2-4F51-ADC2-BC29370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81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40556C"/>
                </a:solidFill>
              </a:defRPr>
            </a:pPr>
            <a:r>
              <a:rPr sz="788" b="1">
                <a:solidFill>
                  <a:srgbClr val="40556C"/>
                </a:solidFill>
              </a:rPr>
              <a:t>RAW</a:t>
            </a:r>
            <a:r>
              <a:rPr sz="788" b="1">
                <a:solidFill>
                  <a:srgbClr val="40556C"/>
                </a:solidFill>
              </a:rPr>
              <a:t>、RDS、ODS topic </a:t>
            </a:r>
            <a:r>
              <a:rPr sz="788" b="1">
                <a:solidFill>
                  <a:srgbClr val="40556C"/>
                </a:solidFill>
              </a:rPr>
              <a:t>的全链路消息总线</a:t>
            </a:r>
          </a:p>
        </p:txBody>
      </p:sp>
      <p:sp>
        <p:nvSpPr>
          <p:cNvPr id="210" name="infra-2-box">
            <a:extLst xmlns:a="http://schemas.openxmlformats.org/drawingml/2006/main">
              <a:ext uri="{FF2B5EF4-FFF2-40B4-BE49-F238E27FC236}">
                <a16:creationId xmlns:a16="http://schemas.microsoft.com/office/drawing/2014/main" id="{BF8B51A8-B966-4247-9492-C4A6FFFC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33147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9C7D3"/>
            </a:solidFill>
            <a:prstDash val="solid"/>
          </a:ln>
        </p:spPr>
      </p:sp>
      <p:sp>
        <p:nvSpPr>
          <p:cNvPr id="211" name="infra-2-head">
            <a:extLst xmlns:a="http://schemas.openxmlformats.org/drawingml/2006/main">
              <a:ext uri="{FF2B5EF4-FFF2-40B4-BE49-F238E27FC236}">
                <a16:creationId xmlns:a16="http://schemas.microsoft.com/office/drawing/2014/main" id="{6E3E31C7-6BB5-446E-9030-0D13F695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12" name="infra-2-title">
            <a:extLst xmlns:a="http://schemas.openxmlformats.org/drawingml/2006/main">
              <a:ext uri="{FF2B5EF4-FFF2-40B4-BE49-F238E27FC236}">
                <a16:creationId xmlns:a16="http://schemas.microsoft.com/office/drawing/2014/main" id="{E3071BF0-C759-47AC-8603-BF90486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213" name="infra-2-sub">
            <a:extLst xmlns:a="http://schemas.openxmlformats.org/drawingml/2006/main">
              <a:ext uri="{FF2B5EF4-FFF2-40B4-BE49-F238E27FC236}">
                <a16:creationId xmlns:a16="http://schemas.microsoft.com/office/drawing/2014/main" id="{F0DC43CC-856B-45AE-B4F5-BE9D70A2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81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40556C"/>
                </a:solidFill>
              </a:defRPr>
            </a:pPr>
            <a:r>
              <a:rPr sz="788" b="1">
                <a:solidFill>
                  <a:srgbClr val="40556C"/>
                </a:solidFill>
              </a:rPr>
              <a:t>PDF、图片、附件等资源资产，供平台全链路调用</a:t>
            </a:r>
          </a:p>
        </p:txBody>
      </p:sp>
      <p:sp>
        <p:nvSpPr>
          <p:cNvPr id="214" name="boundary-band">
            <a:extLst xmlns:a="http://schemas.openxmlformats.org/drawingml/2006/main">
              <a:ext uri="{FF2B5EF4-FFF2-40B4-BE49-F238E27FC236}">
                <a16:creationId xmlns:a16="http://schemas.microsoft.com/office/drawing/2014/main" id="{3F5AC8C8-533C-4029-8006-A1A857DE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1013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15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C4413690-4527-43F7-B1F2-246D8AA8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986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0556C"/>
                </a:solidFill>
              </a:defRPr>
            </a:pPr>
            <a:r>
              <a:rPr sz="825" b="1">
                <a:solidFill>
                  <a:srgbClr val="40556C"/>
                </a:solidFill>
              </a:rPr>
              <a:t>数据边界：MongoDB 仅存采集原始记录与状态；PostgreSQL 仅存 ETL 后结构化数据；MinIO 资源由平台全链路复用。</a:t>
            </a:r>
          </a:p>
        </p:txBody>
      </p:sp>
      <p:sp>
        <p:nvSpPr>
          <p:cNvPr id="5" name="raw-mongo-downloader">
            <a:extLst xmlns:a="http://schemas.openxmlformats.org/drawingml/2006/main">
              <a:ext uri="{FF2B5EF4-FFF2-40B4-BE49-F238E27FC236}">
                <a16:creationId xmlns:a16="http://schemas.microsoft.com/office/drawing/2014/main" id="{56E18A29-BCA4-1846-0DBF-D4F61E8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95799" y="3021331"/>
            <a:ext cx="323849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7D3"/>
          </a:solidFill>
          <a:ln xmlns:a="http://schemas.openxmlformats.org/drawingml/2006/main" w="0">
            <a:solidFill>
              <a:srgbClr val="B9C7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438" name="直接箭头连接符 18"/>
          <p:cNvCxnSpPr>
            <a:endCxn xmlns:a="http://schemas.openxmlformats.org/drawingml/2006/main" id="184" idx="1"/>
          </p:cNvCxnSpPr>
          <p:nvPr/>
        </p:nvCxnSpPr>
        <p:spPr>
          <a:xfrm xmlns:a="http://schemas.openxmlformats.org/drawingml/2006/main" flipV="1">
            <a:off x="6395848" y="2557462"/>
            <a:ext cx="1195577" cy="1223962"/>
          </a:xfrm>
          <a:prstGeom xmlns:a="http://schemas.openxmlformats.org/drawingml/2006/main" prst="straightConnector1">
            <a:avLst/>
          </a:prstGeom>
          <a:ln xmlns:a="http://schemas.openxmlformats.org/drawingml/2006/main" w="15875">
            <a:solidFill>
              <a:schemeClr val="tx2">
                <a:alpha val="50000"/>
              </a:schemeClr>
            </a:solidFill>
            <a:prstDash val="dash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etl-ods-db-box">
            <a:extLst xmlns:a="http://schemas.openxmlformats.org/drawingml/2006/main">
              <a:ext uri="{FF2B5EF4-FFF2-40B4-BE49-F238E27FC236}">
                <a16:creationId xmlns:a16="http://schemas.microsoft.com/office/drawing/2014/main" id="{A7AFE99F-09E9-ACF0-F5BA-EA4D518B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543425"/>
            <a:ext cx="32194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9AAAB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etl-e">
            <a:extLst xmlns:a="http://schemas.openxmlformats.org/drawingml/2006/main">
              <a:ext uri="{FF2B5EF4-FFF2-40B4-BE49-F238E27FC236}">
                <a16:creationId xmlns:a16="http://schemas.microsoft.com/office/drawing/2014/main" id="{B4A9C3DA-E8CF-FBC7-793A-F967B1FE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323" y="4414837"/>
            <a:ext cx="17145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DB7A0"/>
          </a:solidFill>
          <a:ln xmlns:a="http://schemas.openxmlformats.org/drawingml/2006/main" w="0">
            <a:solidFill>
              <a:srgbClr val="8DB7A0"/>
            </a:solidFill>
            <a:prstDash val="solid"/>
          </a:ln>
        </p:spPr>
      </p:sp>
      <p:sp>
        <p:nvSpPr>
          <p:cNvPr id="20" name="etl-ods-db-title">
            <a:extLst xmlns:a="http://schemas.openxmlformats.org/drawingml/2006/main">
              <a:ext uri="{FF2B5EF4-FFF2-40B4-BE49-F238E27FC236}">
                <a16:creationId xmlns:a16="http://schemas.microsoft.com/office/drawing/2014/main" id="{6EBE11F2-2628-199A-89A3-81EF8395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57200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A6B7E"/>
                </a:solidFill>
              </a:defRPr>
            </a:pPr>
            <a:r>
              <a:rPr sz="788" b="1">
                <a:solidFill>
                  <a:srgbClr val="5A6B7E"/>
                </a:solidFill>
              </a:rPr>
              <a:t>后续治理（规划）</a:t>
            </a:r>
          </a:p>
        </p:txBody>
      </p:sp>
    </p:spTree>
    <p:extLst>
      <p:ext uri="{BB962C8B-B14F-4D97-AF65-F5344CB8AC3E}">
        <p14:creationId xmlns:p14="http://schemas.microsoft.com/office/powerpoint/2010/main" val="729730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-2">
            <a:extLst xmlns:a="http://schemas.openxmlformats.org/drawingml/2006/main">
              <a:ext uri="{FF2B5EF4-FFF2-40B4-BE49-F238E27FC236}">
                <a16:creationId xmlns:a16="http://schemas.microsoft.com/office/drawing/2014/main" id="{06B4FE11-470A-44A5-9F80-30EBFF02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2">
            <a:extLst xmlns:a="http://schemas.openxmlformats.org/drawingml/2006/main">
              <a:ext uri="{FF2B5EF4-FFF2-40B4-BE49-F238E27FC236}">
                <a16:creationId xmlns:a16="http://schemas.microsoft.com/office/drawing/2014/main" id="{E49D1392-DB2E-44D6-A4F1-2772716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采集配置已实现从网址输入到任务发布的完整闭环</a:t>
            </a:r>
          </a:p>
        </p:txBody>
      </p:sp>
      <p:cxnSp>
        <p:nvCxnSpPr>
          <p:cNvPr id="54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2">
            <a:extLst xmlns:a="http://schemas.openxmlformats.org/drawingml/2006/main">
              <a:ext uri="{FF2B5EF4-FFF2-40B4-BE49-F238E27FC236}">
                <a16:creationId xmlns:a16="http://schemas.microsoft.com/office/drawing/2014/main" id="{AB07B4A2-624F-409C-9E1A-E104DA0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2E644AA8-AED7-4C2B-A26F-D48ABE2B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本期已交付：站点分析、模板与适配器生成、发布运行、资源下载和数据同步。</a:t>
            </a:r>
          </a:p>
        </p:txBody>
      </p:sp>
      <p:sp>
        <p:nvSpPr>
          <p:cNvPr id="6" name="n-define">
            <a:extLst xmlns:a="http://schemas.openxmlformats.org/drawingml/2006/main">
              <a:ext uri="{FF2B5EF4-FFF2-40B4-BE49-F238E27FC236}">
                <a16:creationId xmlns:a16="http://schemas.microsoft.com/office/drawing/2014/main" id="{7A8CD382-FD88-42BF-8638-08B7358F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7" name="a-define">
            <a:extLst xmlns:a="http://schemas.openxmlformats.org/drawingml/2006/main">
              <a:ext uri="{FF2B5EF4-FFF2-40B4-BE49-F238E27FC236}">
                <a16:creationId xmlns:a16="http://schemas.microsoft.com/office/drawing/2014/main" id="{59C32AF5-44E9-414C-A9F1-3420A5E4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8" name="nt-define">
            <a:extLst xmlns:a="http://schemas.openxmlformats.org/drawingml/2006/main">
              <a:ext uri="{FF2B5EF4-FFF2-40B4-BE49-F238E27FC236}">
                <a16:creationId xmlns:a16="http://schemas.microsoft.com/office/drawing/2014/main" id="{8FCDBE16-5C77-40BA-97A0-D6BDA104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01  输入与分析</a:t>
            </a:r>
          </a:p>
        </p:txBody>
      </p:sp>
      <p:sp>
        <p:nvSpPr>
          <p:cNvPr id="9" name="ns-define">
            <a:extLst xmlns:a="http://schemas.openxmlformats.org/drawingml/2006/main">
              <a:ext uri="{FF2B5EF4-FFF2-40B4-BE49-F238E27FC236}">
                <a16:creationId xmlns:a16="http://schemas.microsoft.com/office/drawing/2014/main" id="{3EEC91C8-0462-480E-A231-92FC37B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输入目标 URL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建立请求、响应与页面证据</a:t>
            </a:r>
          </a:p>
        </p:txBody>
      </p:sp>
      <p:sp>
        <p:nvSpPr>
          <p:cNvPr id="10" name="n-execute">
            <a:extLst xmlns:a="http://schemas.openxmlformats.org/drawingml/2006/main">
              <a:ext uri="{FF2B5EF4-FFF2-40B4-BE49-F238E27FC236}">
                <a16:creationId xmlns:a16="http://schemas.microsoft.com/office/drawing/2014/main" id="{64B2543D-CF13-44C8-9A28-FA18FF34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1" name="a-execute">
            <a:extLst xmlns:a="http://schemas.openxmlformats.org/drawingml/2006/main">
              <a:ext uri="{FF2B5EF4-FFF2-40B4-BE49-F238E27FC236}">
                <a16:creationId xmlns:a16="http://schemas.microsoft.com/office/drawing/2014/main" id="{D658E1B9-5593-4BDA-9825-7203A20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2" name="nt-execute">
            <a:extLst xmlns:a="http://schemas.openxmlformats.org/drawingml/2006/main">
              <a:ext uri="{FF2B5EF4-FFF2-40B4-BE49-F238E27FC236}">
                <a16:creationId xmlns:a16="http://schemas.microsoft.com/office/drawing/2014/main" id="{FB228DFE-8664-499C-BC03-F0C4D7F5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02  确认与生成</a:t>
            </a:r>
          </a:p>
        </p:txBody>
      </p:sp>
      <p:sp>
        <p:nvSpPr>
          <p:cNvPr id="13" name="ns-execute">
            <a:extLst xmlns:a="http://schemas.openxmlformats.org/drawingml/2006/main">
              <a:ext uri="{FF2B5EF4-FFF2-40B4-BE49-F238E27FC236}">
                <a16:creationId xmlns:a16="http://schemas.microsoft.com/office/drawing/2014/main" id="{3DE8CE13-F0A5-4708-B9EA-99028DBB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确认分页、字段与边界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生成 YAML 模板和 Python 适配器</a:t>
            </a:r>
          </a:p>
        </p:txBody>
      </p:sp>
      <p:sp>
        <p:nvSpPr>
          <p:cNvPr id="14" name="n-deliver">
            <a:extLst xmlns:a="http://schemas.openxmlformats.org/drawingml/2006/main">
              <a:ext uri="{FF2B5EF4-FFF2-40B4-BE49-F238E27FC236}">
                <a16:creationId xmlns:a16="http://schemas.microsoft.com/office/drawing/2014/main" id="{FCF7855B-B325-4DDB-BB15-0821E4C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390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5" name="a-deliver">
            <a:extLst xmlns:a="http://schemas.openxmlformats.org/drawingml/2006/main">
              <a:ext uri="{FF2B5EF4-FFF2-40B4-BE49-F238E27FC236}">
                <a16:creationId xmlns:a16="http://schemas.microsoft.com/office/drawing/2014/main" id="{31936C98-B6D3-4CC6-80D7-19C9B9AB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6" name="nt-deliver">
            <a:extLst xmlns:a="http://schemas.openxmlformats.org/drawingml/2006/main">
              <a:ext uri="{FF2B5EF4-FFF2-40B4-BE49-F238E27FC236}">
                <a16:creationId xmlns:a16="http://schemas.microsoft.com/office/drawing/2014/main" id="{EC2C82C7-A3B1-42E8-B887-D6CF5502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03  发布与运行</a:t>
            </a:r>
          </a:p>
        </p:txBody>
      </p:sp>
      <p:sp>
        <p:nvSpPr>
          <p:cNvPr id="17" name="ns-deliver">
            <a:extLst xmlns:a="http://schemas.openxmlformats.org/drawingml/2006/main">
              <a:ext uri="{FF2B5EF4-FFF2-40B4-BE49-F238E27FC236}">
                <a16:creationId xmlns:a16="http://schemas.microsoft.com/office/drawing/2014/main" id="{1756548B-B2A7-4FAB-B8A6-9BEE5B7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8135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设置调度和并发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发布到资产库并创建采集任务</a:t>
            </a:r>
          </a:p>
        </p:txBody>
      </p:sp>
      <p:sp>
        <p:nvSpPr>
          <p:cNvPr id="18" name="ar-407-356">
            <a:extLst xmlns:a="http://schemas.openxmlformats.org/drawingml/2006/main">
              <a:ext uri="{FF2B5EF4-FFF2-40B4-BE49-F238E27FC236}">
                <a16:creationId xmlns:a16="http://schemas.microsoft.com/office/drawing/2014/main" id="{B76962E2-0234-4965-B676-6E21010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909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ar-827-356">
            <a:extLst xmlns:a="http://schemas.openxmlformats.org/drawingml/2006/main">
              <a:ext uri="{FF2B5EF4-FFF2-40B4-BE49-F238E27FC236}">
                <a16:creationId xmlns:a16="http://schemas.microsoft.com/office/drawing/2014/main" id="{B88EF179-0CBE-4BAE-A187-106C40A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909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note">
            <a:extLst xmlns:a="http://schemas.openxmlformats.org/drawingml/2006/main">
              <a:ext uri="{FF2B5EF4-FFF2-40B4-BE49-F238E27FC236}">
                <a16:creationId xmlns:a16="http://schemas.microsoft.com/office/drawing/2014/main" id="{EE2186A2-FB34-4C6F-B626-58EC003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21" name="notet">
            <a:extLst xmlns:a="http://schemas.openxmlformats.org/drawingml/2006/main">
              <a:ext uri="{FF2B5EF4-FFF2-40B4-BE49-F238E27FC236}">
                <a16:creationId xmlns:a16="http://schemas.microsoft.com/office/drawing/2014/main" id="{73308398-BBDB-4D80-A52F-76850EEA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输入网址 → 站点分析 → 字段契约 → 适配器实现 → 发布任务 → 资产库</a:t>
            </a:r>
          </a:p>
        </p:txBody>
      </p:sp>
    </p:spTree>
    <p:extLst>
      <p:ext uri="{BB962C8B-B14F-4D97-AF65-F5344CB8AC3E}">
        <p14:creationId xmlns:p14="http://schemas.microsoft.com/office/powerpoint/2010/main" val="17544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0｜从一个网址开始，不需要先写 YAML 或 Python</a:t>
            </a:r>
          </a:p>
        </p:txBody>
      </p:sp>
      <p:cxnSp>
        <p:nvCxnSpPr>
          <p:cNvPr id="6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用户动作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进入「AI 智能采集」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明确目标站点与想要的数据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进入下一步前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准备可访问的 HTTP/HTTPS 页面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优先选择包含真实列表数据的入口页</a:t>
            </a:r>
          </a:p>
        </p:txBody>
      </p:sp>
      <p:pic>
        <p:nvPicPr>
          <p:cNvPr id="67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30c7bc5394aba"/>
          <a:srcRect xmlns:a="http://schemas.openxmlformats.org/drawingml/2006/main" l="1621" t="0" r="16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1｜粘贴目标网址，同时检查是否已有可复用资产</a:t>
            </a:r>
          </a:p>
        </p:txBody>
      </p:sp>
      <p:cxnSp>
        <p:nvCxnSpPr>
          <p:cNvPr id="6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粘贴目标页面 URL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按 Enter 发起站点分析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系统反馈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右侧同步展示历史模板、域名和适配器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避免重复建设相同采集能力</a:t>
            </a:r>
          </a:p>
        </p:txBody>
      </p:sp>
      <p:pic>
        <p:nvPicPr>
          <p:cNvPr id="67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1ef32a1594c8a"/>
          <a:srcRect xmlns:a="http://schemas.openxmlformats.org/drawingml/2006/main" l="1621" t="0" r="16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2｜系统建立请求上下文，证据不足时明确提示</a:t>
            </a:r>
          </a:p>
        </p:txBody>
      </p:sp>
      <p:cxnSp>
        <p:nvCxnSpPr>
          <p:cNvPr id="6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系统输出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目标 URL、站点标识和生成文件名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浏览器快照与响应证据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截图提示 No verified browser snapshot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此时补充字段规则、调度要求或数据边界</a:t>
            </a:r>
          </a:p>
        </p:txBody>
      </p:sp>
      <p:pic>
        <p:nvPicPr>
          <p:cNvPr id="67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9a0b8cb4b44f7"/>
          <a:srcRect xmlns:a="http://schemas.openxmlformats.org/drawingml/2006/main" l="1730" t="0" r="17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3｜字段以流式卡片生成，用户逐段确认采集契约</a:t>
            </a:r>
          </a:p>
        </p:txBody>
      </p:sp>
      <p:cxnSp>
        <p:nvCxnSpPr>
          <p:cNvPr id="6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确认内容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字段名与 selector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selector_type、field_type、required、description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阶段产物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形成列表/详情字段和输出 Schema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截图显示 Fields 5/5，字段阶段完成</a:t>
            </a:r>
          </a:p>
        </p:txBody>
      </p:sp>
      <p:pic>
        <p:nvPicPr>
          <p:cNvPr id="67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643b48b904881"/>
          <a:srcRect xmlns:a="http://schemas.openxmlformats.org/drawingml/2006/main" l="2314" t="0" r="2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4｜模板确认后，AI 再生成站点适配器实现</a:t>
            </a:r>
          </a:p>
        </p:txBody>
      </p:sp>
      <p:cxnSp>
        <p:nvCxnSpPr>
          <p:cNvPr id="6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系统动作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锁定 GET 请求契约和字段映射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分步骤生成 app/adapters/...py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检查解析入口、请求头、翻页和错误 Hook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若显示 0 field mapping，应返回字段阶段复核</a:t>
            </a:r>
          </a:p>
        </p:txBody>
      </p:sp>
      <p:pic>
        <p:nvPicPr>
          <p:cNvPr id="67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915a2ef2e48aa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5｜发布前设置运行边界，把资产和任务一起交付</a:t>
            </a:r>
          </a:p>
        </p:txBody>
      </p:sp>
      <p:cxnSp>
        <p:nvCxnSpPr>
          <p:cNvPr id="6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用户设置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Once / Daily / Interval、间隔、并发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增量、Robots policy、Drift guard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发布动作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确认 YAML、Python 与字段数量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点击 Publish &amp; Create Task</a:t>
            </a:r>
          </a:p>
        </p:txBody>
      </p:sp>
      <p:pic>
        <p:nvPicPr>
          <p:cNvPr id="67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b90e1ccbc439f"/>
          <a:srcRect xmlns:a="http://schemas.openxmlformats.org/drawingml/2006/main" l="437" t="0" r="4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-5">
            <a:extLst xmlns:a="http://schemas.openxmlformats.org/drawingml/2006/main">
              <a:ext uri="{FF2B5EF4-FFF2-40B4-BE49-F238E27FC236}">
                <a16:creationId xmlns:a16="http://schemas.microsoft.com/office/drawing/2014/main" id="{A4FB66DE-7F24-4601-B46B-D865413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5">
            <a:extLst xmlns:a="http://schemas.openxmlformats.org/drawingml/2006/main">
              <a:ext uri="{FF2B5EF4-FFF2-40B4-BE49-F238E27FC236}">
                <a16:creationId xmlns:a16="http://schemas.microsoft.com/office/drawing/2014/main" id="{38B13300-A21B-4430-8D43-FE7C357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阶段 6｜发布成功后，新资产进入模板库并可继续调度</a:t>
            </a:r>
          </a:p>
        </p:txBody>
      </p:sp>
      <p:cxnSp>
        <p:nvCxnSpPr>
          <p:cNvPr id="6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5">
            <a:extLst xmlns:a="http://schemas.openxmlformats.org/drawingml/2006/main">
              <a:ext uri="{FF2B5EF4-FFF2-40B4-BE49-F238E27FC236}">
                <a16:creationId xmlns:a16="http://schemas.microsoft.com/office/drawing/2014/main" id="{8B4E3901-6236-4E86-A622-D60F1CE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l-684-172">
            <a:extLst xmlns:a="http://schemas.openxmlformats.org/drawingml/2006/main">
              <a:ext uri="{FF2B5EF4-FFF2-40B4-BE49-F238E27FC236}">
                <a16:creationId xmlns:a16="http://schemas.microsoft.com/office/drawing/2014/main" id="{017192D2-30AD-46F2-A9FF-0A486C5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系统结果</a:t>
            </a:r>
          </a:p>
        </p:txBody>
      </p:sp>
      <p:sp>
        <p:nvSpPr>
          <p:cNvPr id="12" name="gpi">
            <a:extLst xmlns:a="http://schemas.openxmlformats.org/drawingml/2006/main">
              <a:ext uri="{FF2B5EF4-FFF2-40B4-BE49-F238E27FC236}">
                <a16:creationId xmlns:a16="http://schemas.microsoft.com/office/drawing/2014/main" id="{B9504F29-9D86-445C-9ECB-6D51C72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模板库新增资产条目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展示域名、版本、字段数和 adapter 路径</a:t>
            </a:r>
          </a:p>
        </p:txBody>
      </p:sp>
      <p:sp>
        <p:nvSpPr>
          <p:cNvPr id="13" name="l-684-410">
            <a:extLst xmlns:a="http://schemas.openxmlformats.org/drawingml/2006/main">
              <a:ext uri="{FF2B5EF4-FFF2-40B4-BE49-F238E27FC236}">
                <a16:creationId xmlns:a16="http://schemas.microsoft.com/office/drawing/2014/main" id="{62E2A2BC-1CB7-4FAD-993C-DA608A3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A56A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14" name="gpo">
            <a:extLst xmlns:a="http://schemas.openxmlformats.org/drawingml/2006/main">
              <a:ext uri="{FF2B5EF4-FFF2-40B4-BE49-F238E27FC236}">
                <a16:creationId xmlns:a16="http://schemas.microsoft.com/office/drawing/2014/main" id="{EC427685-E9F3-4503-AE3D-9FF81FF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确认条目可检索、状态正确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版本、文件路径和任务数量符合预期</a:t>
            </a:r>
          </a:p>
        </p:txBody>
      </p:sp>
      <p:pic>
        <p:nvPicPr>
          <p:cNvPr id="67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999a6eb8e42cc"/>
          <a:srcRect xmlns:a="http://schemas.openxmlformats.org/drawingml/2006/main" l="0" t="115" r="0" b="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66925"/>
            <a:ext cx="57150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735664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-6">
            <a:extLst xmlns:a="http://schemas.openxmlformats.org/drawingml/2006/main">
              <a:ext uri="{FF2B5EF4-FFF2-40B4-BE49-F238E27FC236}">
                <a16:creationId xmlns:a16="http://schemas.microsoft.com/office/drawing/2014/main" id="{6AAD4462-FDA1-4DBE-B71F-4BC0FC66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6">
            <a:extLst xmlns:a="http://schemas.openxmlformats.org/drawingml/2006/main">
              <a:ext uri="{FF2B5EF4-FFF2-40B4-BE49-F238E27FC236}">
                <a16:creationId xmlns:a16="http://schemas.microsoft.com/office/drawing/2014/main" id="{4D9F8188-789D-4853-875A-1E7F827A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最终交付不是一段提示词，而是四类可运行资产</a:t>
            </a:r>
          </a:p>
        </p:txBody>
      </p:sp>
      <p:cxnSp>
        <p:nvCxnSpPr>
          <p:cNvPr id="50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6">
            <a:extLst xmlns:a="http://schemas.openxmlformats.org/drawingml/2006/main">
              <a:ext uri="{FF2B5EF4-FFF2-40B4-BE49-F238E27FC236}">
                <a16:creationId xmlns:a16="http://schemas.microsoft.com/office/drawing/2014/main" id="{1BFB5586-9064-43A3-89C9-7DA033A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u0">
            <a:extLst xmlns:a="http://schemas.openxmlformats.org/drawingml/2006/main">
              <a:ext uri="{FF2B5EF4-FFF2-40B4-BE49-F238E27FC236}">
                <a16:creationId xmlns:a16="http://schemas.microsoft.com/office/drawing/2014/main" id="{B6065888-C887-4748-B448-64220E4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发布前必须确认四类产物彼此一致，并能在同一运行时中被加载。</a:t>
            </a:r>
          </a:p>
        </p:txBody>
      </p:sp>
      <p:sp>
        <p:nvSpPr>
          <p:cNvPr id="6" name="u0">
            <a:extLst xmlns:a="http://schemas.openxmlformats.org/drawingml/2006/main">
              <a:ext uri="{FF2B5EF4-FFF2-40B4-BE49-F238E27FC236}">
                <a16:creationId xmlns:a16="http://schemas.microsoft.com/office/drawing/2014/main" id="{AEBEA897-CEAF-4F4E-9811-C175DFAE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7" name="ut0">
            <a:extLst xmlns:a="http://schemas.openxmlformats.org/drawingml/2006/main">
              <a:ext uri="{FF2B5EF4-FFF2-40B4-BE49-F238E27FC236}">
                <a16:creationId xmlns:a16="http://schemas.microsoft.com/office/drawing/2014/main" id="{0DE9C1B9-44D9-4168-B1D2-9AE6C6CC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 · YAML 采集模板</a:t>
            </a:r>
          </a:p>
        </p:txBody>
      </p:sp>
      <p:sp>
        <p:nvSpPr>
          <p:cNvPr id="8" name="ub0">
            <a:extLst xmlns:a="http://schemas.openxmlformats.org/drawingml/2006/main">
              <a:ext uri="{FF2B5EF4-FFF2-40B4-BE49-F238E27FC236}">
                <a16:creationId xmlns:a16="http://schemas.microsoft.com/office/drawing/2014/main" id="{3FEBBFF9-64C1-4B0C-B532-0E312FF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URL / 参数 / 请求 / 分页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字段 / 去重 / 资源下载规则</a:t>
            </a:r>
          </a:p>
        </p:txBody>
      </p:sp>
      <p:sp>
        <p:nvSpPr>
          <p:cNvPr id="9" name="u1">
            <a:extLst xmlns:a="http://schemas.openxmlformats.org/drawingml/2006/main">
              <a:ext uri="{FF2B5EF4-FFF2-40B4-BE49-F238E27FC236}">
                <a16:creationId xmlns:a16="http://schemas.microsoft.com/office/drawing/2014/main" id="{D5D179A4-540C-4389-92BA-EB62DF0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0" name="ut1">
            <a:extLst xmlns:a="http://schemas.openxmlformats.org/drawingml/2006/main">
              <a:ext uri="{FF2B5EF4-FFF2-40B4-BE49-F238E27FC236}">
                <a16:creationId xmlns:a16="http://schemas.microsoft.com/office/drawing/2014/main" id="{5D7E81E7-8986-4102-9FE9-6056EA8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B · Python 适配器</a:t>
            </a:r>
          </a:p>
        </p:txBody>
      </p:sp>
      <p:sp>
        <p:nvSpPr>
          <p:cNvPr id="11" name="ub1">
            <a:extLst xmlns:a="http://schemas.openxmlformats.org/drawingml/2006/main">
              <a:ext uri="{FF2B5EF4-FFF2-40B4-BE49-F238E27FC236}">
                <a16:creationId xmlns:a16="http://schemas.microsoft.com/office/drawing/2014/main" id="{BBC11F7B-4A23-490A-BC5D-F510C54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@register_adapter 注册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请求、解析、翻页与错误处理 Hook</a:t>
            </a:r>
          </a:p>
        </p:txBody>
      </p:sp>
      <p:sp>
        <p:nvSpPr>
          <p:cNvPr id="12" name="u2">
            <a:extLst xmlns:a="http://schemas.openxmlformats.org/drawingml/2006/main">
              <a:ext uri="{FF2B5EF4-FFF2-40B4-BE49-F238E27FC236}">
                <a16:creationId xmlns:a16="http://schemas.microsoft.com/office/drawing/2014/main" id="{CD764C1C-49C2-468F-B57D-74635020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13" name="ut2">
            <a:extLst xmlns:a="http://schemas.openxmlformats.org/drawingml/2006/main">
              <a:ext uri="{FF2B5EF4-FFF2-40B4-BE49-F238E27FC236}">
                <a16:creationId xmlns:a16="http://schemas.microsoft.com/office/drawing/2014/main" id="{1C5C29E5-E2CF-4B23-A2CE-8084C56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C · 可执行采集任务</a:t>
            </a:r>
          </a:p>
        </p:txBody>
      </p:sp>
      <p:sp>
        <p:nvSpPr>
          <p:cNvPr id="14" name="ub2">
            <a:extLst xmlns:a="http://schemas.openxmlformats.org/drawingml/2006/main">
              <a:ext uri="{FF2B5EF4-FFF2-40B4-BE49-F238E27FC236}">
                <a16:creationId xmlns:a16="http://schemas.microsoft.com/office/drawing/2014/main" id="{A4AFF5D9-18FC-42B8-A437-0D2390D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调度方式 / 间隔 / 并发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6B7E"/>
                </a:solidFill>
                <a:latin typeface="Consolas"/>
                <a:ea typeface="Consolas"/>
                <a:cs typeface="Consolas"/>
              </a:rPr>
              <a:t>增量、Robots 与 Drift guard</a:t>
            </a:r>
          </a:p>
        </p:txBody>
      </p:sp>
      <p:sp>
        <p:nvSpPr>
          <p:cNvPr id="15" name="u3">
            <a:extLst xmlns:a="http://schemas.openxmlformats.org/drawingml/2006/main">
              <a:ext uri="{FF2B5EF4-FFF2-40B4-BE49-F238E27FC236}">
                <a16:creationId xmlns:a16="http://schemas.microsoft.com/office/drawing/2014/main" id="{5791DB97-BD52-492D-BE0E-FE293A1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6" name="ut3">
            <a:extLst xmlns:a="http://schemas.openxmlformats.org/drawingml/2006/main">
              <a:ext uri="{FF2B5EF4-FFF2-40B4-BE49-F238E27FC236}">
                <a16:creationId xmlns:a16="http://schemas.microsoft.com/office/drawing/2014/main" id="{2631BCBC-A4D6-4174-8F2F-449ED59B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D · 可运营资产</a:t>
            </a:r>
          </a:p>
        </p:txBody>
      </p:sp>
      <p:sp>
        <p:nvSpPr>
          <p:cNvPr id="17" name="ub3">
            <a:extLst xmlns:a="http://schemas.openxmlformats.org/drawingml/2006/main">
              <a:ext uri="{FF2B5EF4-FFF2-40B4-BE49-F238E27FC236}">
                <a16:creationId xmlns:a16="http://schemas.microsoft.com/office/drawing/2014/main" id="{821AB7D2-B783-4148-9E06-E1570439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模板库可检索、可版本化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可复用并关联后续任务</a:t>
            </a:r>
          </a:p>
        </p:txBody>
      </p:sp>
    </p:spTree>
    <p:extLst>
      <p:ext uri="{BB962C8B-B14F-4D97-AF65-F5344CB8AC3E}">
        <p14:creationId xmlns:p14="http://schemas.microsoft.com/office/powerpoint/2010/main" val="289071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-11">
            <a:extLst xmlns:a="http://schemas.openxmlformats.org/drawingml/2006/main">
              <a:ext uri="{FF2B5EF4-FFF2-40B4-BE49-F238E27FC236}">
                <a16:creationId xmlns:a16="http://schemas.microsoft.com/office/drawing/2014/main" id="{63ACF25D-8593-42D8-9604-D4A84AA5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11">
            <a:extLst xmlns:a="http://schemas.openxmlformats.org/drawingml/2006/main">
              <a:ext uri="{FF2B5EF4-FFF2-40B4-BE49-F238E27FC236}">
                <a16:creationId xmlns:a16="http://schemas.microsoft.com/office/drawing/2014/main" id="{ECE962F4-1266-4CD4-AC54-7DFE77F7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只有小样本实跑通过，模板和适配器才算“可运行”</a:t>
            </a:r>
          </a:p>
        </p:txBody>
      </p:sp>
      <p:cxnSp>
        <p:nvCxnSpPr>
          <p:cNvPr id="316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11">
            <a:extLst xmlns:a="http://schemas.openxmlformats.org/drawingml/2006/main">
              <a:ext uri="{FF2B5EF4-FFF2-40B4-BE49-F238E27FC236}">
                <a16:creationId xmlns:a16="http://schemas.microsoft.com/office/drawing/2014/main" id="{1B21748B-590E-4D32-9506-DDF87B68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cn0">
            <a:extLst xmlns:a="http://schemas.openxmlformats.org/drawingml/2006/main">
              <a:ext uri="{FF2B5EF4-FFF2-40B4-BE49-F238E27FC236}">
                <a16:creationId xmlns:a16="http://schemas.microsoft.com/office/drawing/2014/main" id="{68E30F05-C0D5-42E5-AB5A-FBE2081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nn0">
            <a:extLst xmlns:a="http://schemas.openxmlformats.org/drawingml/2006/main">
              <a:ext uri="{FF2B5EF4-FFF2-40B4-BE49-F238E27FC236}">
                <a16:creationId xmlns:a16="http://schemas.microsoft.com/office/drawing/2014/main" id="{43725122-0C6F-4AFD-957D-30BB171C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ct0">
            <a:extLst xmlns:a="http://schemas.openxmlformats.org/drawingml/2006/main">
              <a:ext uri="{FF2B5EF4-FFF2-40B4-BE49-F238E27FC236}">
                <a16:creationId xmlns:a16="http://schemas.microsoft.com/office/drawing/2014/main" id="{054C7BDF-E221-4FCC-B421-F96C7EE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入口可复现</a:t>
            </a:r>
          </a:p>
        </p:txBody>
      </p:sp>
      <p:sp>
        <p:nvSpPr>
          <p:cNvPr id="8" name="ca0">
            <a:extLst xmlns:a="http://schemas.openxmlformats.org/drawingml/2006/main">
              <a:ext uri="{FF2B5EF4-FFF2-40B4-BE49-F238E27FC236}">
                <a16:creationId xmlns:a16="http://schemas.microsoft.com/office/drawing/2014/main" id="{2E74F3C1-B035-42FA-9763-310E352B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URL 与参数可重复请求</a:t>
            </a:r>
          </a:p>
        </p:txBody>
      </p:sp>
      <p:sp>
        <p:nvSpPr>
          <p:cNvPr id="9" name="cb0">
            <a:extLst xmlns:a="http://schemas.openxmlformats.org/drawingml/2006/main">
              <a:ext uri="{FF2B5EF4-FFF2-40B4-BE49-F238E27FC236}">
                <a16:creationId xmlns:a16="http://schemas.microsoft.com/office/drawing/2014/main" id="{AACD7EC9-3B25-48A4-ADBC-420239D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页面、接口或响应证据能够重新获取</a:t>
            </a:r>
          </a:p>
        </p:txBody>
      </p:sp>
      <p:cxnSp>
        <p:nvCxnSpPr>
          <p:cNvPr id="323" name="rule-112-249"/>
          <p:cNvCxnSpPr/>
          <p:nvPr/>
        </p:nvCxnSpPr>
        <p:spPr>
          <a:xfrm xmlns:a="http://schemas.openxmlformats.org/drawingml/2006/main">
            <a:off x="1066800" y="237172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11" name="cn1">
            <a:extLst xmlns:a="http://schemas.openxmlformats.org/drawingml/2006/main">
              <a:ext uri="{FF2B5EF4-FFF2-40B4-BE49-F238E27FC236}">
                <a16:creationId xmlns:a16="http://schemas.microsoft.com/office/drawing/2014/main" id="{13FECFF3-1985-4D2F-840C-2578F19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nn1">
            <a:extLst xmlns:a="http://schemas.openxmlformats.org/drawingml/2006/main">
              <a:ext uri="{FF2B5EF4-FFF2-40B4-BE49-F238E27FC236}">
                <a16:creationId xmlns:a16="http://schemas.microsoft.com/office/drawing/2014/main" id="{09BF56F1-A647-4F04-AF75-411AB26F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ct1">
            <a:extLst xmlns:a="http://schemas.openxmlformats.org/drawingml/2006/main">
              <a:ext uri="{FF2B5EF4-FFF2-40B4-BE49-F238E27FC236}">
                <a16:creationId xmlns:a16="http://schemas.microsoft.com/office/drawing/2014/main" id="{2C704198-B943-4DBF-9A16-4AFFC140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模板合约完整</a:t>
            </a:r>
          </a:p>
        </p:txBody>
      </p:sp>
      <p:sp>
        <p:nvSpPr>
          <p:cNvPr id="14" name="ca1">
            <a:extLst xmlns:a="http://schemas.openxmlformats.org/drawingml/2006/main">
              <a:ext uri="{FF2B5EF4-FFF2-40B4-BE49-F238E27FC236}">
                <a16:creationId xmlns:a16="http://schemas.microsoft.com/office/drawing/2014/main" id="{562CAC86-D0D3-431C-B418-AE13C011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分页、字段、去重、下载规则齐全</a:t>
            </a:r>
          </a:p>
        </p:txBody>
      </p:sp>
      <p:sp>
        <p:nvSpPr>
          <p:cNvPr id="15" name="cb1">
            <a:extLst xmlns:a="http://schemas.openxmlformats.org/drawingml/2006/main">
              <a:ext uri="{FF2B5EF4-FFF2-40B4-BE49-F238E27FC236}">
                <a16:creationId xmlns:a16="http://schemas.microsoft.com/office/drawing/2014/main" id="{67485EC6-8ECA-46D4-A7E4-D921B7CF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字段类型、required 和输出 Schema 已确认</a:t>
            </a:r>
          </a:p>
        </p:txBody>
      </p:sp>
      <p:cxnSp>
        <p:nvCxnSpPr>
          <p:cNvPr id="329" name="rule-112-343"/>
          <p:cNvCxnSpPr/>
          <p:nvPr/>
        </p:nvCxnSpPr>
        <p:spPr>
          <a:xfrm xmlns:a="http://schemas.openxmlformats.org/drawingml/2006/main">
            <a:off x="1066800" y="326707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17" name="cn2">
            <a:extLst xmlns:a="http://schemas.openxmlformats.org/drawingml/2006/main">
              <a:ext uri="{FF2B5EF4-FFF2-40B4-BE49-F238E27FC236}">
                <a16:creationId xmlns:a16="http://schemas.microsoft.com/office/drawing/2014/main" id="{DB5239BB-FF1B-427A-B0F4-E8C8FBB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nn2">
            <a:extLst xmlns:a="http://schemas.openxmlformats.org/drawingml/2006/main">
              <a:ext uri="{FF2B5EF4-FFF2-40B4-BE49-F238E27FC236}">
                <a16:creationId xmlns:a16="http://schemas.microsoft.com/office/drawing/2014/main" id="{C173E904-CEA9-4993-B6AE-925F830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ct2">
            <a:extLst xmlns:a="http://schemas.openxmlformats.org/drawingml/2006/main">
              <a:ext uri="{FF2B5EF4-FFF2-40B4-BE49-F238E27FC236}">
                <a16:creationId xmlns:a16="http://schemas.microsoft.com/office/drawing/2014/main" id="{64195AF0-4122-4DFE-A327-76AD613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适配器对齐</a:t>
            </a:r>
          </a:p>
        </p:txBody>
      </p:sp>
      <p:sp>
        <p:nvSpPr>
          <p:cNvPr id="20" name="ca2">
            <a:extLst xmlns:a="http://schemas.openxmlformats.org/drawingml/2006/main">
              <a:ext uri="{FF2B5EF4-FFF2-40B4-BE49-F238E27FC236}">
                <a16:creationId xmlns:a16="http://schemas.microsoft.com/office/drawing/2014/main" id="{9EB2CB3F-CE16-4698-8971-25BB4E1C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注册名与模板 adapter 一致</a:t>
            </a:r>
          </a:p>
        </p:txBody>
      </p:sp>
      <p:sp>
        <p:nvSpPr>
          <p:cNvPr id="21" name="cb2">
            <a:extLst xmlns:a="http://schemas.openxmlformats.org/drawingml/2006/main">
              <a:ext uri="{FF2B5EF4-FFF2-40B4-BE49-F238E27FC236}">
                <a16:creationId xmlns:a16="http://schemas.microsoft.com/office/drawing/2014/main" id="{45D8225E-0204-4136-A5AA-9830CE72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请求头、解析、翻页和错误 Hook 符合站点</a:t>
            </a:r>
          </a:p>
        </p:txBody>
      </p:sp>
      <p:cxnSp>
        <p:nvCxnSpPr>
          <p:cNvPr id="335" name="rule-112-437"/>
          <p:cNvCxnSpPr/>
          <p:nvPr/>
        </p:nvCxnSpPr>
        <p:spPr>
          <a:xfrm xmlns:a="http://schemas.openxmlformats.org/drawingml/2006/main">
            <a:off x="1066800" y="416242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23" name="cn3">
            <a:extLst xmlns:a="http://schemas.openxmlformats.org/drawingml/2006/main">
              <a:ext uri="{FF2B5EF4-FFF2-40B4-BE49-F238E27FC236}">
                <a16:creationId xmlns:a16="http://schemas.microsoft.com/office/drawing/2014/main" id="{EC8F3D3F-7670-4C6D-BD83-EA82E1D5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nn3">
            <a:extLst xmlns:a="http://schemas.openxmlformats.org/drawingml/2006/main">
              <a:ext uri="{FF2B5EF4-FFF2-40B4-BE49-F238E27FC236}">
                <a16:creationId xmlns:a16="http://schemas.microsoft.com/office/drawing/2014/main" id="{2149079C-1520-45EE-96CF-AD4673CA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ct3">
            <a:extLst xmlns:a="http://schemas.openxmlformats.org/drawingml/2006/main">
              <a:ext uri="{FF2B5EF4-FFF2-40B4-BE49-F238E27FC236}">
                <a16:creationId xmlns:a16="http://schemas.microsoft.com/office/drawing/2014/main" id="{EDFB77A2-FF54-4D10-8CFE-C841B878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小样本试跑</a:t>
            </a:r>
          </a:p>
        </p:txBody>
      </p:sp>
      <p:sp>
        <p:nvSpPr>
          <p:cNvPr id="26" name="ca3">
            <a:extLst xmlns:a="http://schemas.openxmlformats.org/drawingml/2006/main">
              <a:ext uri="{FF2B5EF4-FFF2-40B4-BE49-F238E27FC236}">
                <a16:creationId xmlns:a16="http://schemas.microsoft.com/office/drawing/2014/main" id="{E2031024-8793-4BB5-8F6F-DE4E2DDA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执行 Crawler 单次或小批次</a:t>
            </a:r>
          </a:p>
        </p:txBody>
      </p:sp>
      <p:sp>
        <p:nvSpPr>
          <p:cNvPr id="27" name="cb3">
            <a:extLst xmlns:a="http://schemas.openxmlformats.org/drawingml/2006/main">
              <a:ext uri="{FF2B5EF4-FFF2-40B4-BE49-F238E27FC236}">
                <a16:creationId xmlns:a16="http://schemas.microsoft.com/office/drawing/2014/main" id="{AD43592C-ABBC-48E0-A60D-858ACD3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日志出现 found / saved / cumulative，结果可核对</a:t>
            </a:r>
          </a:p>
        </p:txBody>
      </p:sp>
      <p:cxnSp>
        <p:nvCxnSpPr>
          <p:cNvPr id="341" name="rule-112-531"/>
          <p:cNvCxnSpPr/>
          <p:nvPr/>
        </p:nvCxnSpPr>
        <p:spPr>
          <a:xfrm xmlns:a="http://schemas.openxmlformats.org/drawingml/2006/main">
            <a:off x="1066800" y="5057775"/>
            <a:ext cx="107251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29" name="cn4">
            <a:extLst xmlns:a="http://schemas.openxmlformats.org/drawingml/2006/main">
              <a:ext uri="{FF2B5EF4-FFF2-40B4-BE49-F238E27FC236}">
                <a16:creationId xmlns:a16="http://schemas.microsoft.com/office/drawing/2014/main" id="{6B5B08DE-25B1-49B2-8D79-EFEDA51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457200" cy="5905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nn4">
            <a:extLst xmlns:a="http://schemas.openxmlformats.org/drawingml/2006/main">
              <a:ext uri="{FF2B5EF4-FFF2-40B4-BE49-F238E27FC236}">
                <a16:creationId xmlns:a16="http://schemas.microsoft.com/office/drawing/2014/main" id="{EC442EAF-8B49-4CE9-81D0-E1A2E15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ct4">
            <a:extLst xmlns:a="http://schemas.openxmlformats.org/drawingml/2006/main">
              <a:ext uri="{FF2B5EF4-FFF2-40B4-BE49-F238E27FC236}">
                <a16:creationId xmlns:a16="http://schemas.microsoft.com/office/drawing/2014/main" id="{266E9389-D543-4F53-BAA6-42756ADA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发布可运营</a:t>
            </a:r>
          </a:p>
        </p:txBody>
      </p:sp>
      <p:sp>
        <p:nvSpPr>
          <p:cNvPr id="32" name="ca4">
            <a:extLst xmlns:a="http://schemas.openxmlformats.org/drawingml/2006/main">
              <a:ext uri="{FF2B5EF4-FFF2-40B4-BE49-F238E27FC236}">
                <a16:creationId xmlns:a16="http://schemas.microsoft.com/office/drawing/2014/main" id="{3C01B9CF-176E-495C-8F56-9E4AD307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959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资产库可检索，版本与路径正确</a:t>
            </a:r>
          </a:p>
        </p:txBody>
      </p:sp>
      <p:sp>
        <p:nvSpPr>
          <p:cNvPr id="33" name="cb4">
            <a:extLst xmlns:a="http://schemas.openxmlformats.org/drawingml/2006/main">
              <a:ext uri="{FF2B5EF4-FFF2-40B4-BE49-F238E27FC236}">
                <a16:creationId xmlns:a16="http://schemas.microsoft.com/office/drawing/2014/main" id="{79B1F006-E12C-44CE-90D1-B9B4F7D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任务调度、并发和保护策略符合运行边界</a:t>
            </a:r>
          </a:p>
        </p:txBody>
      </p:sp>
    </p:spTree>
    <p:extLst>
      <p:ext uri="{BB962C8B-B14F-4D97-AF65-F5344CB8AC3E}">
        <p14:creationId xmlns:p14="http://schemas.microsoft.com/office/powerpoint/2010/main" val="53370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k-3">
            <a:extLst xmlns:a="http://schemas.openxmlformats.org/drawingml/2006/main">
              <a:ext uri="{FF2B5EF4-FFF2-40B4-BE49-F238E27FC236}">
                <a16:creationId xmlns:a16="http://schemas.microsoft.com/office/drawing/2014/main" id="{C06FE5CC-1687-4C14-B229-BC9A290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3">
            <a:extLst xmlns:a="http://schemas.openxmlformats.org/drawingml/2006/main">
              <a:ext uri="{FF2B5EF4-FFF2-40B4-BE49-F238E27FC236}">
                <a16:creationId xmlns:a16="http://schemas.microsoft.com/office/drawing/2014/main" id="{6AB16FAF-B499-4BC6-A276-22DFAF7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产品操作最终落到同一套模板化采集运行时</a:t>
            </a:r>
          </a:p>
        </p:txBody>
      </p:sp>
      <p:cxnSp>
        <p:nvCxnSpPr>
          <p:cNvPr id="101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3">
            <a:extLst xmlns:a="http://schemas.openxmlformats.org/drawingml/2006/main">
              <a:ext uri="{FF2B5EF4-FFF2-40B4-BE49-F238E27FC236}">
                <a16:creationId xmlns:a16="http://schemas.microsoft.com/office/drawing/2014/main" id="{DDDB9E9E-DCE0-4CDD-AD5E-39410AC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cxnSp>
        <p:nvCxnSpPr>
          <p:cNvPr id="103" name="rule-102-314"/>
          <p:cNvCxnSpPr/>
          <p:nvPr/>
        </p:nvCxnSpPr>
        <p:spPr>
          <a:xfrm xmlns:a="http://schemas.openxmlformats.org/drawingml/2006/main">
            <a:off x="971550" y="2990850"/>
            <a:ext cx="100393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D9E0"/>
            </a:solidFill>
            <a:prstDash val="solid"/>
          </a:ln>
        </p:spPr>
      </p:cxnSp>
      <p:sp>
        <p:nvSpPr>
          <p:cNvPr id="6" name="l-42-166">
            <a:extLst xmlns:a="http://schemas.openxmlformats.org/drawingml/2006/main">
              <a:ext uri="{FF2B5EF4-FFF2-40B4-BE49-F238E27FC236}">
                <a16:creationId xmlns:a16="http://schemas.microsoft.com/office/drawing/2014/main" id="{47EF1FE1-1DF5-49A9-BC92-A8331C7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64E7"/>
                </a:solidFill>
                <a:latin typeface="Microsoft YaHei"/>
                <a:ea typeface="Microsoft YaHei"/>
                <a:cs typeface="Microsoft YaHei"/>
              </a:rPr>
              <a:t>控制面</a:t>
            </a:r>
          </a:p>
        </p:txBody>
      </p:sp>
      <p:sp>
        <p:nvSpPr>
          <p:cNvPr id="7" name="ctrl">
            <a:extLst xmlns:a="http://schemas.openxmlformats.org/drawingml/2006/main">
              <a:ext uri="{FF2B5EF4-FFF2-40B4-BE49-F238E27FC236}">
                <a16:creationId xmlns:a16="http://schemas.microsoft.com/office/drawing/2014/main" id="{C9D82E73-8C59-4E4D-9893-1715A73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04950"/>
            <a:ext cx="10248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9525">
            <a:solidFill>
              <a:srgbClr val="D8E1FF"/>
            </a:solidFill>
            <a:prstDash val="solid"/>
          </a:ln>
        </p:spPr>
      </p:sp>
      <p:sp>
        <p:nvSpPr>
          <p:cNvPr id="8" name="ctrlt">
            <a:extLst xmlns:a="http://schemas.openxmlformats.org/drawingml/2006/main">
              <a:ext uri="{FF2B5EF4-FFF2-40B4-BE49-F238E27FC236}">
                <a16:creationId xmlns:a16="http://schemas.microsoft.com/office/drawing/2014/main" id="{A8A2448D-7900-4117-9FDA-CE49220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145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AI Collect 交互  ·  模板资产库  ·  Release Gate  ·  Scheduler / WebSocket 观测</a:t>
            </a:r>
          </a:p>
        </p:txBody>
      </p:sp>
      <p:sp>
        <p:nvSpPr>
          <p:cNvPr id="9" name="l-42-276">
            <a:extLst xmlns:a="http://schemas.openxmlformats.org/drawingml/2006/main">
              <a:ext uri="{FF2B5EF4-FFF2-40B4-BE49-F238E27FC236}">
                <a16:creationId xmlns:a16="http://schemas.microsoft.com/office/drawing/2014/main" id="{2F4E7770-5B03-4CFF-B65D-A7630317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数据面</a:t>
            </a:r>
          </a:p>
        </p:txBody>
      </p:sp>
      <p:sp>
        <p:nvSpPr>
          <p:cNvPr id="10" name="n-arch0">
            <a:extLst xmlns:a="http://schemas.openxmlformats.org/drawingml/2006/main">
              <a:ext uri="{FF2B5EF4-FFF2-40B4-BE49-F238E27FC236}">
                <a16:creationId xmlns:a16="http://schemas.microsoft.com/office/drawing/2014/main" id="{219B8CB2-2B15-4D37-924D-F375E84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1" name="a-arch0">
            <a:extLst xmlns:a="http://schemas.openxmlformats.org/drawingml/2006/main">
              <a:ext uri="{FF2B5EF4-FFF2-40B4-BE49-F238E27FC236}">
                <a16:creationId xmlns:a16="http://schemas.microsoft.com/office/drawing/2014/main" id="{F196E66D-FE1D-4850-80B7-02F96450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2" name="nt-arch0">
            <a:extLst xmlns:a="http://schemas.openxmlformats.org/drawingml/2006/main">
              <a:ext uri="{FF2B5EF4-FFF2-40B4-BE49-F238E27FC236}">
                <a16:creationId xmlns:a16="http://schemas.microsoft.com/office/drawing/2014/main" id="{D1A0A5A1-9D7D-4664-AF79-DE6EBFA0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网址 / 需求</a:t>
            </a:r>
          </a:p>
        </p:txBody>
      </p:sp>
      <p:sp>
        <p:nvSpPr>
          <p:cNvPr id="13" name="ns-arch0">
            <a:extLst xmlns:a="http://schemas.openxmlformats.org/drawingml/2006/main">
              <a:ext uri="{FF2B5EF4-FFF2-40B4-BE49-F238E27FC236}">
                <a16:creationId xmlns:a16="http://schemas.microsoft.com/office/drawing/2014/main" id="{19EEF26D-009C-494E-8098-45D7684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用户输入与边界</a:t>
            </a:r>
          </a:p>
        </p:txBody>
      </p:sp>
      <p:sp>
        <p:nvSpPr>
          <p:cNvPr id="14" name="n-arch1">
            <a:extLst xmlns:a="http://schemas.openxmlformats.org/drawingml/2006/main">
              <a:ext uri="{FF2B5EF4-FFF2-40B4-BE49-F238E27FC236}">
                <a16:creationId xmlns:a16="http://schemas.microsoft.com/office/drawing/2014/main" id="{4FE62F7F-1EE6-42C7-B6A3-41A793E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5" name="a-arch1">
            <a:extLst xmlns:a="http://schemas.openxmlformats.org/drawingml/2006/main">
              <a:ext uri="{FF2B5EF4-FFF2-40B4-BE49-F238E27FC236}">
                <a16:creationId xmlns:a16="http://schemas.microsoft.com/office/drawing/2014/main" id="{58F37059-34CC-4443-8EDB-5DD4359A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16" name="nt-arch1">
            <a:extLst xmlns:a="http://schemas.openxmlformats.org/drawingml/2006/main">
              <a:ext uri="{FF2B5EF4-FFF2-40B4-BE49-F238E27FC236}">
                <a16:creationId xmlns:a16="http://schemas.microsoft.com/office/drawing/2014/main" id="{DE240128-F551-445C-A601-12B65C21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站点分析</a:t>
            </a:r>
          </a:p>
        </p:txBody>
      </p:sp>
      <p:sp>
        <p:nvSpPr>
          <p:cNvPr id="17" name="ns-arch1">
            <a:extLst xmlns:a="http://schemas.openxmlformats.org/drawingml/2006/main">
              <a:ext uri="{FF2B5EF4-FFF2-40B4-BE49-F238E27FC236}">
                <a16:creationId xmlns:a16="http://schemas.microsoft.com/office/drawing/2014/main" id="{993EF5E7-A3F5-403A-A022-20B471F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请求与响应证据</a:t>
            </a:r>
          </a:p>
        </p:txBody>
      </p:sp>
      <p:sp>
        <p:nvSpPr>
          <p:cNvPr id="18" name="n-arch2">
            <a:extLst xmlns:a="http://schemas.openxmlformats.org/drawingml/2006/main">
              <a:ext uri="{FF2B5EF4-FFF2-40B4-BE49-F238E27FC236}">
                <a16:creationId xmlns:a16="http://schemas.microsoft.com/office/drawing/2014/main" id="{4B9AF001-5162-4A32-AE68-04ED9FA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19" name="a-arch2">
            <a:extLst xmlns:a="http://schemas.openxmlformats.org/drawingml/2006/main">
              <a:ext uri="{FF2B5EF4-FFF2-40B4-BE49-F238E27FC236}">
                <a16:creationId xmlns:a16="http://schemas.microsoft.com/office/drawing/2014/main" id="{D20DEC53-04D6-4CED-87B1-2C171C1F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0" name="nt-arch2">
            <a:extLst xmlns:a="http://schemas.openxmlformats.org/drawingml/2006/main">
              <a:ext uri="{FF2B5EF4-FFF2-40B4-BE49-F238E27FC236}">
                <a16:creationId xmlns:a16="http://schemas.microsoft.com/office/drawing/2014/main" id="{F0B69F55-14D2-4420-B7BA-23D8103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YAML 模板</a:t>
            </a:r>
          </a:p>
        </p:txBody>
      </p:sp>
      <p:sp>
        <p:nvSpPr>
          <p:cNvPr id="21" name="ns-arch2">
            <a:extLst xmlns:a="http://schemas.openxmlformats.org/drawingml/2006/main">
              <a:ext uri="{FF2B5EF4-FFF2-40B4-BE49-F238E27FC236}">
                <a16:creationId xmlns:a16="http://schemas.microsoft.com/office/drawing/2014/main" id="{6B23A9FD-C521-4768-B581-891DF263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分页 · 字段 · 去重</a:t>
            </a:r>
          </a:p>
        </p:txBody>
      </p:sp>
      <p:sp>
        <p:nvSpPr>
          <p:cNvPr id="22" name="n-arch3">
            <a:extLst xmlns:a="http://schemas.openxmlformats.org/drawingml/2006/main">
              <a:ext uri="{FF2B5EF4-FFF2-40B4-BE49-F238E27FC236}">
                <a16:creationId xmlns:a16="http://schemas.microsoft.com/office/drawing/2014/main" id="{F0D661E4-CF88-45B8-B09E-D4D7D42F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3" name="a-arch3">
            <a:extLst xmlns:a="http://schemas.openxmlformats.org/drawingml/2006/main">
              <a:ext uri="{FF2B5EF4-FFF2-40B4-BE49-F238E27FC236}">
                <a16:creationId xmlns:a16="http://schemas.microsoft.com/office/drawing/2014/main" id="{89B7C6B1-627F-4358-88B5-4D7496E8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4" name="nt-arch3">
            <a:extLst xmlns:a="http://schemas.openxmlformats.org/drawingml/2006/main">
              <a:ext uri="{FF2B5EF4-FFF2-40B4-BE49-F238E27FC236}">
                <a16:creationId xmlns:a16="http://schemas.microsoft.com/office/drawing/2014/main" id="{668A7467-742A-4643-8BDF-58072C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Python 适配器</a:t>
            </a:r>
          </a:p>
        </p:txBody>
      </p:sp>
      <p:sp>
        <p:nvSpPr>
          <p:cNvPr id="25" name="ns-arch3">
            <a:extLst xmlns:a="http://schemas.openxmlformats.org/drawingml/2006/main">
              <a:ext uri="{FF2B5EF4-FFF2-40B4-BE49-F238E27FC236}">
                <a16:creationId xmlns:a16="http://schemas.microsoft.com/office/drawing/2014/main" id="{DB123E4F-138D-4DE1-8E1C-1A1A4FA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站点差异 Hook</a:t>
            </a:r>
          </a:p>
        </p:txBody>
      </p:sp>
      <p:sp>
        <p:nvSpPr>
          <p:cNvPr id="26" name="n-arch4">
            <a:extLst xmlns:a="http://schemas.openxmlformats.org/drawingml/2006/main">
              <a:ext uri="{FF2B5EF4-FFF2-40B4-BE49-F238E27FC236}">
                <a16:creationId xmlns:a16="http://schemas.microsoft.com/office/drawing/2014/main" id="{90C309FE-EE4D-4B71-93FD-DE7D87EC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27" name="a-arch4">
            <a:extLst xmlns:a="http://schemas.openxmlformats.org/drawingml/2006/main">
              <a:ext uri="{FF2B5EF4-FFF2-40B4-BE49-F238E27FC236}">
                <a16:creationId xmlns:a16="http://schemas.microsoft.com/office/drawing/2014/main" id="{D84C722C-B9FC-4E3A-9526-C57791C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28" name="nt-arch4">
            <a:extLst xmlns:a="http://schemas.openxmlformats.org/drawingml/2006/main">
              <a:ext uri="{FF2B5EF4-FFF2-40B4-BE49-F238E27FC236}">
                <a16:creationId xmlns:a16="http://schemas.microsoft.com/office/drawing/2014/main" id="{33195F1F-AEB1-4043-A9D4-C946005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Crawler</a:t>
            </a:r>
          </a:p>
        </p:txBody>
      </p:sp>
      <p:sp>
        <p:nvSpPr>
          <p:cNvPr id="29" name="ns-arch4">
            <a:extLst xmlns:a="http://schemas.openxmlformats.org/drawingml/2006/main">
              <a:ext uri="{FF2B5EF4-FFF2-40B4-BE49-F238E27FC236}">
                <a16:creationId xmlns:a16="http://schemas.microsoft.com/office/drawing/2014/main" id="{06008C6F-9E76-4039-86D4-502C09B1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 · 解析 · 保存</a:t>
            </a:r>
          </a:p>
        </p:txBody>
      </p:sp>
      <p:sp>
        <p:nvSpPr>
          <p:cNvPr id="30" name="n-arch5">
            <a:extLst xmlns:a="http://schemas.openxmlformats.org/drawingml/2006/main">
              <a:ext uri="{FF2B5EF4-FFF2-40B4-BE49-F238E27FC236}">
                <a16:creationId xmlns:a16="http://schemas.microsoft.com/office/drawing/2014/main" id="{F30CD33B-D016-46C9-B865-C2EEF40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314450" cy="13525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31" name="a-arch5">
            <a:extLst xmlns:a="http://schemas.openxmlformats.org/drawingml/2006/main">
              <a:ext uri="{FF2B5EF4-FFF2-40B4-BE49-F238E27FC236}">
                <a16:creationId xmlns:a16="http://schemas.microsoft.com/office/drawing/2014/main" id="{27A8FAC5-58A4-4C20-BBC5-4ACC340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32" name="nt-arch5">
            <a:extLst xmlns:a="http://schemas.openxmlformats.org/drawingml/2006/main">
              <a:ext uri="{FF2B5EF4-FFF2-40B4-BE49-F238E27FC236}">
                <a16:creationId xmlns:a16="http://schemas.microsoft.com/office/drawing/2014/main" id="{23A01AA4-7444-49A9-9BB4-8674EC52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MongoDB</a:t>
            </a:r>
          </a:p>
        </p:txBody>
      </p:sp>
      <p:sp>
        <p:nvSpPr>
          <p:cNvPr id="33" name="ns-arch5">
            <a:extLst xmlns:a="http://schemas.openxmlformats.org/drawingml/2006/main">
              <a:ext uri="{FF2B5EF4-FFF2-40B4-BE49-F238E27FC236}">
                <a16:creationId xmlns:a16="http://schemas.microsoft.com/office/drawing/2014/main" id="{31D14D05-7694-4E0C-905D-19EF2969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原始记录与状态</a:t>
            </a:r>
          </a:p>
        </p:txBody>
      </p:sp>
      <p:sp>
        <p:nvSpPr>
          <p:cNvPr id="34" name="n-arch6">
            <a:extLst xmlns:a="http://schemas.openxmlformats.org/drawingml/2006/main">
              <a:ext uri="{FF2B5EF4-FFF2-40B4-BE49-F238E27FC236}">
                <a16:creationId xmlns:a16="http://schemas.microsoft.com/office/drawing/2014/main" id="{8B1D7417-3F5F-41DD-B039-D273B63B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1219200" cy="13525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0"/>
            </a:solidFill>
            <a:prstDash val="solid"/>
          </a:ln>
        </p:spPr>
      </p:sp>
      <p:sp>
        <p:nvSpPr>
          <p:cNvPr id="35" name="a-arch6">
            <a:extLst xmlns:a="http://schemas.openxmlformats.org/drawingml/2006/main">
              <a:ext uri="{FF2B5EF4-FFF2-40B4-BE49-F238E27FC236}">
                <a16:creationId xmlns:a16="http://schemas.microsoft.com/office/drawing/2014/main" id="{6A008A31-3B75-4AA4-B441-85B516BD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36" name="nt-arch6">
            <a:extLst xmlns:a="http://schemas.openxmlformats.org/drawingml/2006/main">
              <a:ext uri="{FF2B5EF4-FFF2-40B4-BE49-F238E27FC236}">
                <a16:creationId xmlns:a16="http://schemas.microsoft.com/office/drawing/2014/main" id="{4277DC9E-9F1E-4605-A5A2-3D704CE8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384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37" name="ns-arch6">
            <a:extLst xmlns:a="http://schemas.openxmlformats.org/drawingml/2006/main">
              <a:ext uri="{FF2B5EF4-FFF2-40B4-BE49-F238E27FC236}">
                <a16:creationId xmlns:a16="http://schemas.microsoft.com/office/drawing/2014/main" id="{BECAF142-859E-4618-96A9-FF98A27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766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PDF / 图片资源</a:t>
            </a:r>
          </a:p>
        </p:txBody>
      </p:sp>
      <p:sp>
        <p:nvSpPr>
          <p:cNvPr id="38" name="cross">
            <a:extLst xmlns:a="http://schemas.openxmlformats.org/drawingml/2006/main">
              <a:ext uri="{FF2B5EF4-FFF2-40B4-BE49-F238E27FC236}">
                <a16:creationId xmlns:a16="http://schemas.microsoft.com/office/drawing/2014/main" id="{3CA9D45E-9018-431B-AAD8-16F9CE4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上线前的横切门禁</a:t>
            </a:r>
          </a:p>
        </p:txBody>
      </p:sp>
      <p:sp>
        <p:nvSpPr>
          <p:cNvPr id="39" name="chip42">
            <a:extLst xmlns:a="http://schemas.openxmlformats.org/drawingml/2006/main">
              <a:ext uri="{FF2B5EF4-FFF2-40B4-BE49-F238E27FC236}">
                <a16:creationId xmlns:a16="http://schemas.microsoft.com/office/drawing/2014/main" id="{5552EC7E-1F38-4771-BA3A-600C517D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40" name="chipt42">
            <a:extLst xmlns:a="http://schemas.openxmlformats.org/drawingml/2006/main">
              <a:ext uri="{FF2B5EF4-FFF2-40B4-BE49-F238E27FC236}">
                <a16:creationId xmlns:a16="http://schemas.microsoft.com/office/drawing/2014/main" id="{82A6861B-E92A-48FD-8F6C-15FFF35F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浏览器 / 响应证据</a:t>
            </a:r>
          </a:p>
        </p:txBody>
      </p:sp>
      <p:sp>
        <p:nvSpPr>
          <p:cNvPr id="41" name="chip276">
            <a:extLst xmlns:a="http://schemas.openxmlformats.org/drawingml/2006/main">
              <a:ext uri="{FF2B5EF4-FFF2-40B4-BE49-F238E27FC236}">
                <a16:creationId xmlns:a16="http://schemas.microsoft.com/office/drawing/2014/main" id="{44AC5253-1A23-4EE4-A008-04867B3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42" name="chipt276">
            <a:extLst xmlns:a="http://schemas.openxmlformats.org/drawingml/2006/main">
              <a:ext uri="{FF2B5EF4-FFF2-40B4-BE49-F238E27FC236}">
                <a16:creationId xmlns:a16="http://schemas.microsoft.com/office/drawing/2014/main" id="{D3411D7D-2E34-405B-8A89-7C2DDEA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字段 Schema 验证</a:t>
            </a:r>
          </a:p>
        </p:txBody>
      </p:sp>
      <p:sp>
        <p:nvSpPr>
          <p:cNvPr id="43" name="chip510">
            <a:extLst xmlns:a="http://schemas.openxmlformats.org/drawingml/2006/main">
              <a:ext uri="{FF2B5EF4-FFF2-40B4-BE49-F238E27FC236}">
                <a16:creationId xmlns:a16="http://schemas.microsoft.com/office/drawing/2014/main" id="{77DB0819-658F-4BB0-AF7D-12985048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0A202"/>
            </a:solidFill>
            <a:prstDash val="solid"/>
          </a:ln>
        </p:spPr>
      </p:sp>
      <p:sp>
        <p:nvSpPr>
          <p:cNvPr id="44" name="chipt510">
            <a:extLst xmlns:a="http://schemas.openxmlformats.org/drawingml/2006/main">
              <a:ext uri="{FF2B5EF4-FFF2-40B4-BE49-F238E27FC236}">
                <a16:creationId xmlns:a16="http://schemas.microsoft.com/office/drawing/2014/main" id="{799CAEDF-655C-4593-BD71-A5D1FF3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小样本 dry-run</a:t>
            </a:r>
          </a:p>
        </p:txBody>
      </p:sp>
      <p:sp>
        <p:nvSpPr>
          <p:cNvPr id="45" name="chip744">
            <a:extLst xmlns:a="http://schemas.openxmlformats.org/drawingml/2006/main">
              <a:ext uri="{FF2B5EF4-FFF2-40B4-BE49-F238E27FC236}">
                <a16:creationId xmlns:a16="http://schemas.microsoft.com/office/drawing/2014/main" id="{DF0227F5-1ECD-475F-A141-D49D44E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46" name="chipt744">
            <a:extLst xmlns:a="http://schemas.openxmlformats.org/drawingml/2006/main">
              <a:ext uri="{FF2B5EF4-FFF2-40B4-BE49-F238E27FC236}">
                <a16:creationId xmlns:a16="http://schemas.microsoft.com/office/drawing/2014/main" id="{07129DC5-3967-4201-87C8-619EA86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状态 / 日志观测</a:t>
            </a:r>
          </a:p>
        </p:txBody>
      </p:sp>
      <p:sp>
        <p:nvSpPr>
          <p:cNvPr id="47" name="chip978">
            <a:extLst xmlns:a="http://schemas.openxmlformats.org/drawingml/2006/main">
              <a:ext uri="{FF2B5EF4-FFF2-40B4-BE49-F238E27FC236}">
                <a16:creationId xmlns:a16="http://schemas.microsoft.com/office/drawing/2014/main" id="{06E51C1F-2FC1-45F8-AD6B-30CA810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67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4A4A"/>
            </a:solidFill>
            <a:prstDash val="solid"/>
          </a:ln>
        </p:spPr>
      </p:sp>
      <p:sp>
        <p:nvSpPr>
          <p:cNvPr id="48" name="chipt978">
            <a:extLst xmlns:a="http://schemas.openxmlformats.org/drawingml/2006/main">
              <a:ext uri="{FF2B5EF4-FFF2-40B4-BE49-F238E27FC236}">
                <a16:creationId xmlns:a16="http://schemas.microsoft.com/office/drawing/2014/main" id="{B42E26A6-42DF-44FA-BF9C-D3977602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0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断点与失败恢复</a:t>
            </a:r>
          </a:p>
        </p:txBody>
      </p:sp>
    </p:spTree>
    <p:extLst>
      <p:ext uri="{BB962C8B-B14F-4D97-AF65-F5344CB8AC3E}">
        <p14:creationId xmlns:p14="http://schemas.microsoft.com/office/powerpoint/2010/main" val="7297304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-8">
            <a:extLst xmlns:a="http://schemas.openxmlformats.org/drawingml/2006/main">
              <a:ext uri="{FF2B5EF4-FFF2-40B4-BE49-F238E27FC236}">
                <a16:creationId xmlns:a16="http://schemas.microsoft.com/office/drawing/2014/main" id="{2331AC11-C0E5-4D83-A50F-4CDCAED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SPIDER / COLLECTION PLATFORM</a:t>
            </a:r>
          </a:p>
        </p:txBody>
      </p:sp>
      <p:sp>
        <p:nvSpPr>
          <p:cNvPr id="2" name="t-8">
            <a:extLst xmlns:a="http://schemas.openxmlformats.org/drawingml/2006/main">
              <a:ext uri="{FF2B5EF4-FFF2-40B4-BE49-F238E27FC236}">
                <a16:creationId xmlns:a16="http://schemas.microsoft.com/office/drawing/2014/main" id="{AB7A9959-6C8A-42CF-B1D2-4293191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可运行的关键不在于生成文件，而在于三层验收</a:t>
            </a:r>
          </a:p>
        </p:txBody>
      </p:sp>
      <p:cxnSp>
        <p:nvCxnSpPr>
          <p:cNvPr id="50" name="rule-42-137"/>
          <p:cNvCxnSpPr/>
          <p:nvPr/>
        </p:nvCxnSpPr>
        <p:spPr>
          <a:xfrm xmlns:a="http://schemas.openxmlformats.org/drawingml/2006/main">
            <a:off x="400050" y="1304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FD9E0"/>
            </a:solidFill>
            <a:prstDash val="solid"/>
          </a:ln>
        </p:spPr>
      </p:cxnSp>
      <p:sp>
        <p:nvSpPr>
          <p:cNvPr id="4" name="p-8">
            <a:extLst xmlns:a="http://schemas.openxmlformats.org/drawingml/2006/main">
              <a:ext uri="{FF2B5EF4-FFF2-40B4-BE49-F238E27FC236}">
                <a16:creationId xmlns:a16="http://schemas.microsoft.com/office/drawing/2014/main" id="{09A0A037-49A5-4709-BE34-C57713E7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r0">
            <a:extLst xmlns:a="http://schemas.openxmlformats.org/drawingml/2006/main">
              <a:ext uri="{FF2B5EF4-FFF2-40B4-BE49-F238E27FC236}">
                <a16:creationId xmlns:a16="http://schemas.microsoft.com/office/drawing/2014/main" id="{C42E2B49-B6DF-427A-830B-76EE4EC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t0">
            <a:extLst xmlns:a="http://schemas.openxmlformats.org/drawingml/2006/main">
              <a:ext uri="{FF2B5EF4-FFF2-40B4-BE49-F238E27FC236}">
                <a16:creationId xmlns:a16="http://schemas.microsoft.com/office/drawing/2014/main" id="{3515F069-4498-4CB3-9DD4-1430186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模板合约</a:t>
            </a:r>
          </a:p>
        </p:txBody>
      </p:sp>
      <p:sp>
        <p:nvSpPr>
          <p:cNvPr id="7" name="rb0">
            <a:extLst xmlns:a="http://schemas.openxmlformats.org/drawingml/2006/main">
              <a:ext uri="{FF2B5EF4-FFF2-40B4-BE49-F238E27FC236}">
                <a16:creationId xmlns:a16="http://schemas.microsoft.com/office/drawing/2014/main" id="{F1736416-74B3-46F2-BF81-9CCA04CD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URL 与参数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请求与分页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字段与类型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去重与资源下载</a:t>
            </a:r>
          </a:p>
        </p:txBody>
      </p:sp>
      <p:sp>
        <p:nvSpPr>
          <p:cNvPr id="8" name="ra0">
            <a:extLst xmlns:a="http://schemas.openxmlformats.org/drawingml/2006/main">
              <a:ext uri="{FF2B5EF4-FFF2-40B4-BE49-F238E27FC236}">
                <a16:creationId xmlns:a16="http://schemas.microsoft.com/office/drawing/2014/main" id="{087290C5-0C4B-4362-95CB-776EAB51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C4"/>
          </a:solidFill>
          <a:ln xmlns:a="http://schemas.openxmlformats.org/drawingml/2006/main" w="9525">
            <a:solidFill>
              <a:srgbClr val="00A7C4"/>
            </a:solidFill>
            <a:prstDash val="solid"/>
          </a:ln>
        </p:spPr>
      </p:sp>
      <p:sp>
        <p:nvSpPr>
          <p:cNvPr id="9" name="r1">
            <a:extLst xmlns:a="http://schemas.openxmlformats.org/drawingml/2006/main">
              <a:ext uri="{FF2B5EF4-FFF2-40B4-BE49-F238E27FC236}">
                <a16:creationId xmlns:a16="http://schemas.microsoft.com/office/drawing/2014/main" id="{1988B0FC-5BF7-4417-97FB-0215099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2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t1">
            <a:extLst xmlns:a="http://schemas.openxmlformats.org/drawingml/2006/main">
              <a:ext uri="{FF2B5EF4-FFF2-40B4-BE49-F238E27FC236}">
                <a16:creationId xmlns:a16="http://schemas.microsoft.com/office/drawing/2014/main" id="{85B25BA4-F70B-4012-9B28-032512C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适配器行为</a:t>
            </a:r>
          </a:p>
        </p:txBody>
      </p:sp>
      <p:sp>
        <p:nvSpPr>
          <p:cNvPr id="11" name="rb1">
            <a:extLst xmlns:a="http://schemas.openxmlformats.org/drawingml/2006/main">
              <a:ext uri="{FF2B5EF4-FFF2-40B4-BE49-F238E27FC236}">
                <a16:creationId xmlns:a16="http://schemas.microsoft.com/office/drawing/2014/main" id="{7EB0E440-BDBD-409A-8A1F-940B96C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请求头与会话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响应解析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翻页推进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错误与站点特例</a:t>
            </a:r>
          </a:p>
        </p:txBody>
      </p:sp>
      <p:sp>
        <p:nvSpPr>
          <p:cNvPr id="12" name="ra1">
            <a:extLst xmlns:a="http://schemas.openxmlformats.org/drawingml/2006/main">
              <a:ext uri="{FF2B5EF4-FFF2-40B4-BE49-F238E27FC236}">
                <a16:creationId xmlns:a16="http://schemas.microsoft.com/office/drawing/2014/main" id="{E5DAEA41-8F3D-4133-9084-CD92B5BE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E7"/>
          </a:solidFill>
          <a:ln xmlns:a="http://schemas.openxmlformats.org/drawingml/2006/main" w="9525">
            <a:solidFill>
              <a:srgbClr val="2764E7"/>
            </a:solidFill>
            <a:prstDash val="solid"/>
          </a:ln>
        </p:spPr>
      </p:sp>
      <p:sp>
        <p:nvSpPr>
          <p:cNvPr id="13" name="r2">
            <a:extLst xmlns:a="http://schemas.openxmlformats.org/drawingml/2006/main">
              <a:ext uri="{FF2B5EF4-FFF2-40B4-BE49-F238E27FC236}">
                <a16:creationId xmlns:a16="http://schemas.microsoft.com/office/drawing/2014/main" id="{E6B36838-2CF4-4623-ADFE-54FA3864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t2">
            <a:extLst xmlns:a="http://schemas.openxmlformats.org/drawingml/2006/main">
              <a:ext uri="{FF2B5EF4-FFF2-40B4-BE49-F238E27FC236}">
                <a16:creationId xmlns:a16="http://schemas.microsoft.com/office/drawing/2014/main" id="{01C443B0-9D06-4C0C-B603-C38BAE8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15" name="rb2">
            <a:extLst xmlns:a="http://schemas.openxmlformats.org/drawingml/2006/main">
              <a:ext uri="{FF2B5EF4-FFF2-40B4-BE49-F238E27FC236}">
                <a16:creationId xmlns:a16="http://schemas.microsoft.com/office/drawing/2014/main" id="{40167225-7E28-4472-8CE4-7F6E3934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dry-run 样本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found / saved 日志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下载与同步状态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断点恢复</a:t>
            </a:r>
          </a:p>
        </p:txBody>
      </p:sp>
      <p:sp>
        <p:nvSpPr>
          <p:cNvPr id="16" name="ra2">
            <a:extLst xmlns:a="http://schemas.openxmlformats.org/drawingml/2006/main">
              <a:ext uri="{FF2B5EF4-FFF2-40B4-BE49-F238E27FC236}">
                <a16:creationId xmlns:a16="http://schemas.microsoft.com/office/drawing/2014/main" id="{C8189FD7-1C00-46C8-94A6-2F246F1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9525">
            <a:solidFill>
              <a:srgbClr val="10A56A"/>
            </a:solidFill>
            <a:prstDash val="solid"/>
          </a:ln>
        </p:spPr>
      </p:sp>
      <p:sp>
        <p:nvSpPr>
          <p:cNvPr id="17" name="rf">
            <a:extLst xmlns:a="http://schemas.openxmlformats.org/drawingml/2006/main">
              <a:ext uri="{FF2B5EF4-FFF2-40B4-BE49-F238E27FC236}">
                <a16:creationId xmlns:a16="http://schemas.microsoft.com/office/drawing/2014/main" id="{8D8C1B28-CD15-4637-84DF-2E2FF7C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建议：先保留为 Draft；只有小样本采集、字段核对和资源落盘均通过，再发布为 Active 并创建任务。</a:t>
            </a:r>
          </a:p>
        </p:txBody>
      </p:sp>
    </p:spTree>
    <p:extLst>
      <p:ext uri="{BB962C8B-B14F-4D97-AF65-F5344CB8AC3E}">
        <p14:creationId xmlns:p14="http://schemas.microsoft.com/office/powerpoint/2010/main" val="4835962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k">
            <a:extLst xmlns:a="http://schemas.openxmlformats.org/drawingml/2006/main">
              <a:ext uri="{FF2B5EF4-FFF2-40B4-BE49-F238E27FC236}">
                <a16:creationId xmlns:a16="http://schemas.microsoft.com/office/drawing/2014/main" id="{9C296D62-C2AA-44AC-AF4B-5C787AC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ROADMAP / DATA LAKE</a:t>
            </a:r>
          </a:p>
        </p:txBody>
      </p:sp>
      <p:sp>
        <p:nvSpPr>
          <p:cNvPr id="2" name="zt">
            <a:extLst xmlns:a="http://schemas.openxmlformats.org/drawingml/2006/main">
              <a:ext uri="{FF2B5EF4-FFF2-40B4-BE49-F238E27FC236}">
                <a16:creationId xmlns:a16="http://schemas.microsoft.com/office/drawing/2014/main" id="{FED391C2-B537-4D20-B954-D0B408E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953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数据湖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cxnSp>
        <p:nvCxnSpPr>
          <p:cNvPr id="39" name="rule-42-438"/>
          <p:cNvCxnSpPr/>
          <p:nvPr/>
        </p:nvCxnSpPr>
        <p:spPr>
          <a:xfrm xmlns:a="http://schemas.openxmlformats.org/drawingml/2006/main">
            <a:off x="400050" y="4171950"/>
            <a:ext cx="7239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3E"/>
            </a:solidFill>
            <a:prstDash val="solid"/>
          </a:ln>
        </p:spPr>
      </p:cxnSp>
      <p:sp>
        <p:nvSpPr>
          <p:cNvPr id="4" name="zb">
            <a:extLst xmlns:a="http://schemas.openxmlformats.org/drawingml/2006/main">
              <a:ext uri="{FF2B5EF4-FFF2-40B4-BE49-F238E27FC236}">
                <a16:creationId xmlns:a16="http://schemas.microsoft.com/office/drawing/2014/main" id="{6602A2EE-E090-4338-8E9C-C5D29FD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当前状态：未实现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待明确：存储分层、资源目录、生命周期与权限边界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本期不展开配置项</a:t>
            </a:r>
          </a:p>
        </p:txBody>
      </p:sp>
      <p:sp>
        <p:nvSpPr>
          <p:cNvPr id="5" name="zm">
            <a:extLst xmlns:a="http://schemas.openxmlformats.org/drawingml/2006/main">
              <a:ext uri="{FF2B5EF4-FFF2-40B4-BE49-F238E27FC236}">
                <a16:creationId xmlns:a16="http://schemas.microsoft.com/office/drawing/2014/main" id="{10D570C8-DC70-498C-8AA1-36091B4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2095500" cy="56769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6" name="zmt">
            <a:extLst xmlns:a="http://schemas.openxmlformats.org/drawingml/2006/main">
              <a:ext uri="{FF2B5EF4-FFF2-40B4-BE49-F238E27FC236}">
                <a16:creationId xmlns:a16="http://schemas.microsoft.com/office/drawing/2014/main" id="{19ADB7EE-ED7D-41D0-83E3-C4EAAE3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71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2040780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k">
            <a:extLst xmlns:a="http://schemas.openxmlformats.org/drawingml/2006/main">
              <a:ext uri="{FF2B5EF4-FFF2-40B4-BE49-F238E27FC236}">
                <a16:creationId xmlns:a16="http://schemas.microsoft.com/office/drawing/2014/main" id="{9C296D62-C2AA-44AC-AF4B-5C787AC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ROADMAP / DATA WAREHOUSE</a:t>
            </a:r>
          </a:p>
        </p:txBody>
      </p:sp>
      <p:sp>
        <p:nvSpPr>
          <p:cNvPr id="2" name="zt">
            <a:extLst xmlns:a="http://schemas.openxmlformats.org/drawingml/2006/main">
              <a:ext uri="{FF2B5EF4-FFF2-40B4-BE49-F238E27FC236}">
                <a16:creationId xmlns:a16="http://schemas.microsoft.com/office/drawing/2014/main" id="{FED391C2-B537-4D20-B954-D0B408E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953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数仓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cxnSp>
        <p:nvCxnSpPr>
          <p:cNvPr id="39" name="rule-42-438"/>
          <p:cNvCxnSpPr/>
          <p:nvPr/>
        </p:nvCxnSpPr>
        <p:spPr>
          <a:xfrm xmlns:a="http://schemas.openxmlformats.org/drawingml/2006/main">
            <a:off x="400050" y="4171950"/>
            <a:ext cx="7239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3E"/>
            </a:solidFill>
            <a:prstDash val="solid"/>
          </a:ln>
        </p:spPr>
      </p:cxnSp>
      <p:sp>
        <p:nvSpPr>
          <p:cNvPr id="4" name="zb">
            <a:extLst xmlns:a="http://schemas.openxmlformats.org/drawingml/2006/main">
              <a:ext uri="{FF2B5EF4-FFF2-40B4-BE49-F238E27FC236}">
                <a16:creationId xmlns:a16="http://schemas.microsoft.com/office/drawing/2014/main" id="{6602A2EE-E090-4338-8E9C-C5D29FD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当前状态：未实现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待明确：RDS / ODS 及后续分层、主题模型、数据口径与调度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本期不展开配置项</a:t>
            </a:r>
          </a:p>
        </p:txBody>
      </p:sp>
      <p:sp>
        <p:nvSpPr>
          <p:cNvPr id="5" name="zm">
            <a:extLst xmlns:a="http://schemas.openxmlformats.org/drawingml/2006/main">
              <a:ext uri="{FF2B5EF4-FFF2-40B4-BE49-F238E27FC236}">
                <a16:creationId xmlns:a16="http://schemas.microsoft.com/office/drawing/2014/main" id="{10D570C8-DC70-498C-8AA1-36091B4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2095500" cy="56769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6" name="zmt">
            <a:extLst xmlns:a="http://schemas.openxmlformats.org/drawingml/2006/main">
              <a:ext uri="{FF2B5EF4-FFF2-40B4-BE49-F238E27FC236}">
                <a16:creationId xmlns:a16="http://schemas.microsoft.com/office/drawing/2014/main" id="{19ADB7EE-ED7D-41D0-83E3-C4EAAE3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71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2040780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k">
            <a:extLst xmlns:a="http://schemas.openxmlformats.org/drawingml/2006/main">
              <a:ext uri="{FF2B5EF4-FFF2-40B4-BE49-F238E27FC236}">
                <a16:creationId xmlns:a16="http://schemas.microsoft.com/office/drawing/2014/main" id="{9C296D62-C2AA-44AC-AF4B-5C787AC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7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ROADMAP / INTELLIGENCE DASHBOARD</a:t>
            </a:r>
          </a:p>
        </p:txBody>
      </p:sp>
      <p:sp>
        <p:nvSpPr>
          <p:cNvPr id="2" name="zt">
            <a:extLst xmlns:a="http://schemas.openxmlformats.org/drawingml/2006/main">
              <a:ext uri="{FF2B5EF4-FFF2-40B4-BE49-F238E27FC236}">
                <a16:creationId xmlns:a16="http://schemas.microsoft.com/office/drawing/2014/main" id="{FED391C2-B537-4D20-B954-D0B408E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953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数据情报驾驶舱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cxnSp>
        <p:nvCxnSpPr>
          <p:cNvPr id="39" name="rule-42-438"/>
          <p:cNvCxnSpPr/>
          <p:nvPr/>
        </p:nvCxnSpPr>
        <p:spPr>
          <a:xfrm xmlns:a="http://schemas.openxmlformats.org/drawingml/2006/main">
            <a:off x="400050" y="4171950"/>
            <a:ext cx="7239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3E"/>
            </a:solidFill>
            <a:prstDash val="solid"/>
          </a:ln>
        </p:spPr>
      </p:cxnSp>
      <p:sp>
        <p:nvSpPr>
          <p:cNvPr id="4" name="zb">
            <a:extLst xmlns:a="http://schemas.openxmlformats.org/drawingml/2006/main">
              <a:ext uri="{FF2B5EF4-FFF2-40B4-BE49-F238E27FC236}">
                <a16:creationId xmlns:a16="http://schemas.microsoft.com/office/drawing/2014/main" id="{6602A2EE-E090-4338-8E9C-C5D29FD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当前状态：未实现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待明确：指标体系、检索分析、权限与可视化应用场景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本期不展开配置项</a:t>
            </a:r>
          </a:p>
        </p:txBody>
      </p:sp>
      <p:sp>
        <p:nvSpPr>
          <p:cNvPr id="5" name="zm">
            <a:extLst xmlns:a="http://schemas.openxmlformats.org/drawingml/2006/main">
              <a:ext uri="{FF2B5EF4-FFF2-40B4-BE49-F238E27FC236}">
                <a16:creationId xmlns:a16="http://schemas.microsoft.com/office/drawing/2014/main" id="{10D570C8-DC70-498C-8AA1-36091B4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2095500" cy="56769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6" name="zmt">
            <a:extLst xmlns:a="http://schemas.openxmlformats.org/drawingml/2006/main">
              <a:ext uri="{FF2B5EF4-FFF2-40B4-BE49-F238E27FC236}">
                <a16:creationId xmlns:a16="http://schemas.microsoft.com/office/drawing/2014/main" id="{19ADB7EE-ED7D-41D0-83E3-C4EAAE3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71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2040780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k">
            <a:extLst xmlns:a="http://schemas.openxmlformats.org/drawingml/2006/main">
              <a:ext uri="{FF2B5EF4-FFF2-40B4-BE49-F238E27FC236}">
                <a16:creationId xmlns:a16="http://schemas.microsoft.com/office/drawing/2014/main" id="{9C296D62-C2AA-44AC-AF4B-5C787AC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7C4"/>
                </a:solidFill>
                <a:latin typeface="Microsoft YaHei"/>
                <a:ea typeface="Microsoft YaHei"/>
                <a:cs typeface="Microsoft YaHei"/>
              </a:rPr>
              <a:t>PROJECT TAKEAWAY</a:t>
            </a:r>
          </a:p>
        </p:txBody>
      </p:sp>
      <p:sp>
        <p:nvSpPr>
          <p:cNvPr id="2" name="zt">
            <a:extLst xmlns:a="http://schemas.openxmlformats.org/drawingml/2006/main">
              <a:ext uri="{FF2B5EF4-FFF2-40B4-BE49-F238E27FC236}">
                <a16:creationId xmlns:a16="http://schemas.microsoft.com/office/drawing/2014/main" id="{FED391C2-B537-4D20-B954-D0B408E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953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本期完成采集闭环，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后续能力按架构逐层建设。</a:t>
            </a:r>
          </a:p>
        </p:txBody>
      </p:sp>
      <p:cxnSp>
        <p:nvCxnSpPr>
          <p:cNvPr id="39" name="rule-42-438"/>
          <p:cNvCxnSpPr/>
          <p:nvPr/>
        </p:nvCxnSpPr>
        <p:spPr>
          <a:xfrm xmlns:a="http://schemas.openxmlformats.org/drawingml/2006/main">
            <a:off x="400050" y="4171950"/>
            <a:ext cx="7239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3E"/>
            </a:solidFill>
            <a:prstDash val="solid"/>
          </a:ln>
        </p:spPr>
      </p:cxnSp>
      <p:sp>
        <p:nvSpPr>
          <p:cNvPr id="4" name="zb">
            <a:extLst xmlns:a="http://schemas.openxmlformats.org/drawingml/2006/main">
              <a:ext uri="{FF2B5EF4-FFF2-40B4-BE49-F238E27FC236}">
                <a16:creationId xmlns:a16="http://schemas.microsoft.com/office/drawing/2014/main" id="{6602A2EE-E090-4338-8E9C-C5D29FD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723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当前可用：网址分析、模板与适配器、发布运行、资源下载与同步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规划留白：数据湖、数仓、数据情报驾驶舱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B7E"/>
                </a:solidFill>
                <a:latin typeface="Microsoft YaHei"/>
                <a:ea typeface="Microsoft YaHei"/>
                <a:cs typeface="Microsoft YaHei"/>
              </a:rPr>
              <a:t>建设顺序：先跑通数据，再固化治理，最后形成应用</a:t>
            </a:r>
          </a:p>
        </p:txBody>
      </p:sp>
      <p:sp>
        <p:nvSpPr>
          <p:cNvPr id="5" name="zm">
            <a:extLst xmlns:a="http://schemas.openxmlformats.org/drawingml/2006/main">
              <a:ext uri="{FF2B5EF4-FFF2-40B4-BE49-F238E27FC236}">
                <a16:creationId xmlns:a16="http://schemas.microsoft.com/office/drawing/2014/main" id="{10D570C8-DC70-498C-8AA1-36091B4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2095500" cy="56769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6" name="zmt">
            <a:extLst xmlns:a="http://schemas.openxmlformats.org/drawingml/2006/main">
              <a:ext uri="{FF2B5EF4-FFF2-40B4-BE49-F238E27FC236}">
                <a16:creationId xmlns:a16="http://schemas.microsoft.com/office/drawing/2014/main" id="{19ADB7EE-ED7D-41D0-83E3-C4EAAE3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71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BY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</a:t>
            </a:r>
          </a:p>
        </p:txBody>
      </p:sp>
    </p:spTree>
    <p:extLst>
      <p:ext uri="{BB962C8B-B14F-4D97-AF65-F5344CB8AC3E}">
        <p14:creationId xmlns:p14="http://schemas.microsoft.com/office/powerpoint/2010/main" val="204078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2026-07-27T07:36:54.1020000Z</dcterms:created>
  <dcterms:modified xsi:type="dcterms:W3CDTF">2026-07-27T07:36:54.1020000Z</dcterms:modified>
</coreProperties>
</file>